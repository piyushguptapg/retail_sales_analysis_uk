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2" r:id="rId4"/>
  </p:sldMasterIdLst>
  <p:notesMasterIdLst>
    <p:notesMasterId r:id="rId18"/>
  </p:notesMasterIdLst>
  <p:handoutMasterIdLst>
    <p:handoutMasterId r:id="rId19"/>
  </p:handoutMasterIdLst>
  <p:sldIdLst>
    <p:sldId id="308" r:id="rId5"/>
    <p:sldId id="309" r:id="rId6"/>
    <p:sldId id="310" r:id="rId7"/>
    <p:sldId id="311" r:id="rId8"/>
    <p:sldId id="312" r:id="rId9"/>
    <p:sldId id="313" r:id="rId10"/>
    <p:sldId id="314" r:id="rId11"/>
    <p:sldId id="315" r:id="rId12"/>
    <p:sldId id="316" r:id="rId13"/>
    <p:sldId id="317" r:id="rId14"/>
    <p:sldId id="319" r:id="rId15"/>
    <p:sldId id="320" r:id="rId16"/>
    <p:sldId id="31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1E2621-3D20-064C-8C13-35EAF95760E7}">
          <p14:sldIdLst/>
        </p14:section>
        <p14:section name="Untitled Section" id="{D2D818E1-B1C5-0E44-8D07-E7BF0BA512E2}">
          <p14:sldIdLst>
            <p14:sldId id="308"/>
            <p14:sldId id="309"/>
            <p14:sldId id="310"/>
            <p14:sldId id="311"/>
            <p14:sldId id="312"/>
            <p14:sldId id="313"/>
            <p14:sldId id="314"/>
            <p14:sldId id="315"/>
            <p14:sldId id="316"/>
            <p14:sldId id="317"/>
            <p14:sldId id="319"/>
            <p14:sldId id="320"/>
            <p14:sldId id="31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7" autoAdjust="0"/>
    <p:restoredTop sz="94615" autoAdjust="0"/>
  </p:normalViewPr>
  <p:slideViewPr>
    <p:cSldViewPr snapToGrid="0">
      <p:cViewPr>
        <p:scale>
          <a:sx n="83" d="100"/>
          <a:sy n="83" d="100"/>
        </p:scale>
        <p:origin x="1528" y="688"/>
      </p:cViewPr>
      <p:guideLst/>
    </p:cSldViewPr>
  </p:slideViewPr>
  <p:notesTextViewPr>
    <p:cViewPr>
      <p:scale>
        <a:sx n="1" d="1"/>
        <a:sy n="1" d="1"/>
      </p:scale>
      <p:origin x="0" y="0"/>
    </p:cViewPr>
  </p:notesTextViewPr>
  <p:notesViewPr>
    <p:cSldViewPr snapToGrid="0">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9F403F-EF76-48B2-A4D1-6B210FA59651}" type="datetime1">
              <a:rPr lang="en-GB" smtClean="0"/>
              <a:t>30/07/2025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284F72-582E-4200-86D7-FCF118B0865E}" type="slidenum">
              <a:rPr lang="en-GB" smtClean="0"/>
              <a:t>‹#›</a:t>
            </a:fld>
            <a:endParaRPr lang="en-GB" dirty="0"/>
          </a:p>
        </p:txBody>
      </p:sp>
    </p:spTree>
    <p:extLst>
      <p:ext uri="{BB962C8B-B14F-4D97-AF65-F5344CB8AC3E}">
        <p14:creationId xmlns:p14="http://schemas.microsoft.com/office/powerpoint/2010/main" val="11669600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DBB4B-0CB0-4B61-A9E2-D423B87EB3A6}" type="datetime1">
              <a:rPr lang="en-GB" noProof="0" smtClean="0"/>
              <a:t>30/07/2025</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5391D-6E4B-4763-9987-239636288824}" type="slidenum">
              <a:rPr lang="en-GB" noProof="0" smtClean="0"/>
              <a:t>‹#›</a:t>
            </a:fld>
            <a:endParaRPr lang="en-GB" noProof="0" dirty="0"/>
          </a:p>
        </p:txBody>
      </p:sp>
    </p:spTree>
    <p:extLst>
      <p:ext uri="{BB962C8B-B14F-4D97-AF65-F5344CB8AC3E}">
        <p14:creationId xmlns:p14="http://schemas.microsoft.com/office/powerpoint/2010/main" val="2354423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375391D-6E4B-4763-9987-239636288824}" type="slidenum">
              <a:rPr lang="en-GB" smtClean="0"/>
              <a:t>1</a:t>
            </a:fld>
            <a:endParaRPr lang="en-GB" dirty="0"/>
          </a:p>
        </p:txBody>
      </p:sp>
    </p:spTree>
    <p:extLst>
      <p:ext uri="{BB962C8B-B14F-4D97-AF65-F5344CB8AC3E}">
        <p14:creationId xmlns:p14="http://schemas.microsoft.com/office/powerpoint/2010/main" val="23301542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pPr rtl="0"/>
            <a:fld id="{0C2704E5-4F39-456D-BCC2-3682AA110EE4}" type="datetime1">
              <a:rPr lang="en-GB" noProof="0" smtClean="0"/>
              <a:t>30/07/2025</a:t>
            </a:fld>
            <a:endParaRPr lang="en-GB" noProof="0" dirty="0"/>
          </a:p>
        </p:txBody>
      </p:sp>
      <p:sp>
        <p:nvSpPr>
          <p:cNvPr id="5" name="Footer Placeholder 4"/>
          <p:cNvSpPr>
            <a:spLocks noGrp="1"/>
          </p:cNvSpPr>
          <p:nvPr>
            <p:ph type="ftr" sz="quarter" idx="11"/>
          </p:nvPr>
        </p:nvSpPr>
        <p:spPr>
          <a:xfrm>
            <a:off x="1371600" y="4323845"/>
            <a:ext cx="6400800" cy="365125"/>
          </a:xfrm>
        </p:spPr>
        <p:txBody>
          <a:bodyPr/>
          <a:lstStyle/>
          <a:p>
            <a:pPr rtl="0"/>
            <a:endParaRPr lang="en-GB" noProof="0" dirty="0"/>
          </a:p>
        </p:txBody>
      </p:sp>
      <p:sp>
        <p:nvSpPr>
          <p:cNvPr id="6" name="Slide Number Placeholder 5"/>
          <p:cNvSpPr>
            <a:spLocks noGrp="1"/>
          </p:cNvSpPr>
          <p:nvPr>
            <p:ph type="sldNum" sz="quarter" idx="12"/>
          </p:nvPr>
        </p:nvSpPr>
        <p:spPr>
          <a:xfrm>
            <a:off x="8077200" y="1430866"/>
            <a:ext cx="2743200" cy="365125"/>
          </a:xfrm>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454933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rtl="0"/>
            <a:fld id="{B1DBDAB5-6689-49C0-A541-77DA88E44363}" type="datetime1">
              <a:rPr lang="en-GB" noProof="0" smtClean="0"/>
              <a:t>30/07/2025</a:t>
            </a:fld>
            <a:endParaRPr lang="en-GB" noProof="0" dirty="0"/>
          </a:p>
        </p:txBody>
      </p:sp>
      <p:sp>
        <p:nvSpPr>
          <p:cNvPr id="5" name="Footer Placeholder 4"/>
          <p:cNvSpPr>
            <a:spLocks noGrp="1"/>
          </p:cNvSpPr>
          <p:nvPr>
            <p:ph type="ftr" sz="quarter" idx="11"/>
          </p:nvPr>
        </p:nvSpPr>
        <p:spPr/>
        <p:txBody>
          <a:bodyPr/>
          <a:lstStyle/>
          <a:p>
            <a:pPr rtl="0"/>
            <a:endParaRPr lang="en-GB" noProof="0" dirty="0"/>
          </a:p>
        </p:txBody>
      </p:sp>
      <p:sp>
        <p:nvSpPr>
          <p:cNvPr id="6" name="Slide Number Placeholder 5"/>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3934253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pPr rtl="0"/>
            <a:fld id="{F7A9E1E1-8203-4C9F-ACF1-E800B4AF1CA2}" type="datetime1">
              <a:rPr lang="en-GB" noProof="0" smtClean="0"/>
              <a:t>30/07/2025</a:t>
            </a:fld>
            <a:endParaRPr lang="en-GB" noProof="0" dirty="0"/>
          </a:p>
        </p:txBody>
      </p:sp>
      <p:sp>
        <p:nvSpPr>
          <p:cNvPr id="5" name="Footer Placeholder 4"/>
          <p:cNvSpPr>
            <a:spLocks noGrp="1"/>
          </p:cNvSpPr>
          <p:nvPr>
            <p:ph type="ftr" sz="quarter" idx="11"/>
          </p:nvPr>
        </p:nvSpPr>
        <p:spPr>
          <a:xfrm>
            <a:off x="685800" y="381001"/>
            <a:ext cx="6991492" cy="364065"/>
          </a:xfrm>
        </p:spPr>
        <p:txBody>
          <a:bodyPr/>
          <a:lstStyle/>
          <a:p>
            <a:pPr rtl="0"/>
            <a:endParaRPr lang="en-GB" noProof="0" dirty="0"/>
          </a:p>
        </p:txBody>
      </p:sp>
      <p:sp>
        <p:nvSpPr>
          <p:cNvPr id="6" name="Slide Number Placeholder 5"/>
          <p:cNvSpPr>
            <a:spLocks noGrp="1"/>
          </p:cNvSpPr>
          <p:nvPr>
            <p:ph type="sldNum" sz="quarter" idx="12"/>
          </p:nvPr>
        </p:nvSpPr>
        <p:spPr>
          <a:xfrm>
            <a:off x="10862452" y="381000"/>
            <a:ext cx="643748" cy="365125"/>
          </a:xfrm>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94057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rtl="0"/>
            <a:fld id="{8D61D606-4029-4057-B007-9BD66F056C02}" type="datetime1">
              <a:rPr lang="en-GB" noProof="0" smtClean="0"/>
              <a:t>30/07/2025</a:t>
            </a:fld>
            <a:endParaRPr lang="en-GB" noProof="0" dirty="0"/>
          </a:p>
        </p:txBody>
      </p:sp>
      <p:sp>
        <p:nvSpPr>
          <p:cNvPr id="6" name="Footer Placeholder 5"/>
          <p:cNvSpPr>
            <a:spLocks noGrp="1"/>
          </p:cNvSpPr>
          <p:nvPr>
            <p:ph type="ftr" sz="quarter" idx="11"/>
          </p:nvPr>
        </p:nvSpPr>
        <p:spPr/>
        <p:txBody>
          <a:bodyPr/>
          <a:lstStyle/>
          <a:p>
            <a:pPr rtl="0"/>
            <a:endParaRPr lang="en-GB" noProof="0" dirty="0"/>
          </a:p>
        </p:txBody>
      </p:sp>
      <p:sp>
        <p:nvSpPr>
          <p:cNvPr id="7" name="Slide Number Placeholder 6"/>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756059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rtl="0"/>
            <a:fld id="{C3EB0A61-F1AF-460B-AD9B-4F654C4E2DCE}" type="datetime1">
              <a:rPr lang="en-GB" noProof="0" smtClean="0"/>
              <a:t>30/07/2025</a:t>
            </a:fld>
            <a:endParaRPr lang="en-GB" noProof="0" dirty="0"/>
          </a:p>
        </p:txBody>
      </p:sp>
      <p:sp>
        <p:nvSpPr>
          <p:cNvPr id="8" name="Footer Placeholder 7"/>
          <p:cNvSpPr>
            <a:spLocks noGrp="1"/>
          </p:cNvSpPr>
          <p:nvPr>
            <p:ph type="ftr" sz="quarter" idx="11"/>
          </p:nvPr>
        </p:nvSpPr>
        <p:spPr/>
        <p:txBody>
          <a:bodyPr/>
          <a:lstStyle/>
          <a:p>
            <a:pPr rtl="0"/>
            <a:endParaRPr lang="en-GB" noProof="0" dirty="0"/>
          </a:p>
        </p:txBody>
      </p:sp>
      <p:sp>
        <p:nvSpPr>
          <p:cNvPr id="9" name="Slide Number Placeholder 8"/>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423749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rtl="0"/>
            <a:fld id="{A94DCD03-2D2D-4108-BBD8-260B692F6DE1}" type="datetime1">
              <a:rPr lang="en-GB" noProof="0" smtClean="0"/>
              <a:t>30/07/2025</a:t>
            </a:fld>
            <a:endParaRPr lang="en-GB" noProof="0" dirty="0"/>
          </a:p>
        </p:txBody>
      </p:sp>
      <p:sp>
        <p:nvSpPr>
          <p:cNvPr id="4" name="Footer Placeholder 3"/>
          <p:cNvSpPr>
            <a:spLocks noGrp="1"/>
          </p:cNvSpPr>
          <p:nvPr>
            <p:ph type="ftr" sz="quarter" idx="11"/>
          </p:nvPr>
        </p:nvSpPr>
        <p:spPr/>
        <p:txBody>
          <a:bodyPr/>
          <a:lstStyle/>
          <a:p>
            <a:pPr rtl="0"/>
            <a:endParaRPr lang="en-GB" noProof="0" dirty="0"/>
          </a:p>
        </p:txBody>
      </p:sp>
      <p:sp>
        <p:nvSpPr>
          <p:cNvPr id="5" name="Slide Number Placeholder 4"/>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297154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C5E3E5A1-1118-4E35-9279-999A703D3551}" type="datetime1">
              <a:rPr lang="en-GB" noProof="0" smtClean="0"/>
              <a:t>30/07/2025</a:t>
            </a:fld>
            <a:endParaRPr lang="en-GB" noProof="0" dirty="0"/>
          </a:p>
        </p:txBody>
      </p:sp>
      <p:sp>
        <p:nvSpPr>
          <p:cNvPr id="3" name="Footer Placeholder 2"/>
          <p:cNvSpPr>
            <a:spLocks noGrp="1"/>
          </p:cNvSpPr>
          <p:nvPr>
            <p:ph type="ftr" sz="quarter" idx="11"/>
          </p:nvPr>
        </p:nvSpPr>
        <p:spPr/>
        <p:txBody>
          <a:bodyPr/>
          <a:lstStyle/>
          <a:p>
            <a:pPr rtl="0"/>
            <a:endParaRPr lang="en-GB" noProof="0" dirty="0"/>
          </a:p>
        </p:txBody>
      </p:sp>
      <p:sp>
        <p:nvSpPr>
          <p:cNvPr id="4" name="Slide Number Placeholder 3"/>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3386570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rtl="0"/>
            <a:fld id="{71EA276F-12C1-47B9-B184-AB6F99175BF6}" type="datetime1">
              <a:rPr lang="en-GB" noProof="0" smtClean="0"/>
              <a:t>30/07/2025</a:t>
            </a:fld>
            <a:endParaRPr lang="en-GB" noProof="0" dirty="0"/>
          </a:p>
        </p:txBody>
      </p:sp>
      <p:sp>
        <p:nvSpPr>
          <p:cNvPr id="6" name="Footer Placeholder 5"/>
          <p:cNvSpPr>
            <a:spLocks noGrp="1"/>
          </p:cNvSpPr>
          <p:nvPr>
            <p:ph type="ftr" sz="quarter" idx="11"/>
          </p:nvPr>
        </p:nvSpPr>
        <p:spPr/>
        <p:txBody>
          <a:bodyPr/>
          <a:lstStyle/>
          <a:p>
            <a:pPr rtl="0"/>
            <a:endParaRPr lang="en-GB" noProof="0" dirty="0"/>
          </a:p>
        </p:txBody>
      </p:sp>
      <p:sp>
        <p:nvSpPr>
          <p:cNvPr id="7" name="Slide Number Placeholder 6"/>
          <p:cNvSpPr>
            <a:spLocks noGrp="1"/>
          </p:cNvSpPr>
          <p:nvPr>
            <p:ph type="sldNum" sz="quarter" idx="12"/>
          </p:nvPr>
        </p:nvSpPr>
        <p:spPr/>
        <p:txBody>
          <a:bodyPr/>
          <a:lstStyle/>
          <a:p>
            <a:pPr rtl="0"/>
            <a:fld id="{3A98EE3D-8CD1-4C3F-BD1C-C98C9596463C}" type="slidenum">
              <a:rPr lang="en-GB" noProof="0" smtClean="0"/>
              <a:pPr/>
              <a:t>‹#›</a:t>
            </a:fld>
            <a:endParaRPr lang="en-GB" noProof="0" dirty="0"/>
          </a:p>
        </p:txBody>
      </p:sp>
    </p:spTree>
    <p:extLst>
      <p:ext uri="{BB962C8B-B14F-4D97-AF65-F5344CB8AC3E}">
        <p14:creationId xmlns:p14="http://schemas.microsoft.com/office/powerpoint/2010/main" val="353551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rtl="0"/>
            <a:fld id="{9BDE5F93-D253-439D-93F3-F4428422EC03}" type="datetime1">
              <a:rPr lang="en-GB" noProof="0" smtClean="0"/>
              <a:t>30/07/2025</a:t>
            </a:fld>
            <a:endParaRPr lang="en-GB" noProof="0" dirty="0"/>
          </a:p>
        </p:txBody>
      </p:sp>
      <p:sp>
        <p:nvSpPr>
          <p:cNvPr id="6" name="Footer Placeholder 5"/>
          <p:cNvSpPr>
            <a:spLocks noGrp="1"/>
          </p:cNvSpPr>
          <p:nvPr>
            <p:ph type="ftr" sz="quarter" idx="11"/>
          </p:nvPr>
        </p:nvSpPr>
        <p:spPr/>
        <p:txBody>
          <a:bodyPr/>
          <a:lstStyle/>
          <a:p>
            <a:pPr algn="l" rtl="0"/>
            <a:endParaRPr lang="en-GB" noProof="0" dirty="0"/>
          </a:p>
        </p:txBody>
      </p:sp>
      <p:sp>
        <p:nvSpPr>
          <p:cNvPr id="7" name="Slide Number Placeholder 6"/>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58695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rtl="0"/>
            <a:fld id="{047F37C8-3C73-45A6-8FAF-1E0E1F929AF7}" type="datetime1">
              <a:rPr lang="en-GB" noProof="0" smtClean="0"/>
              <a:t>30/07/2025</a:t>
            </a:fld>
            <a:endParaRPr lang="en-GB" noProof="0" dirty="0"/>
          </a:p>
        </p:txBody>
      </p:sp>
      <p:sp>
        <p:nvSpPr>
          <p:cNvPr id="6" name="Footer Placeholder 5"/>
          <p:cNvSpPr>
            <a:spLocks noGrp="1"/>
          </p:cNvSpPr>
          <p:nvPr>
            <p:ph type="ftr" sz="quarter" idx="11"/>
          </p:nvPr>
        </p:nvSpPr>
        <p:spPr/>
        <p:txBody>
          <a:bodyPr/>
          <a:lstStyle/>
          <a:p>
            <a:pPr rtl="0"/>
            <a:endParaRPr lang="en-GB" noProof="0" dirty="0"/>
          </a:p>
        </p:txBody>
      </p:sp>
      <p:sp>
        <p:nvSpPr>
          <p:cNvPr id="7" name="Slide Number Placeholder 6"/>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913075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pPr rtl="0"/>
            <a:fld id="{047F37C8-3C73-45A6-8FAF-1E0E1F929AF7}" type="datetime1">
              <a:rPr lang="en-GB" noProof="0" smtClean="0"/>
              <a:t>30/07/2025</a:t>
            </a:fld>
            <a:endParaRPr lang="en-GB" noProof="0" dirty="0"/>
          </a:p>
        </p:txBody>
      </p:sp>
      <p:sp>
        <p:nvSpPr>
          <p:cNvPr id="6" name="Footer Placeholder 5"/>
          <p:cNvSpPr>
            <a:spLocks noGrp="1"/>
          </p:cNvSpPr>
          <p:nvPr>
            <p:ph type="ftr" sz="quarter" idx="11"/>
          </p:nvPr>
        </p:nvSpPr>
        <p:spPr>
          <a:xfrm>
            <a:off x="685800" y="379941"/>
            <a:ext cx="6991492" cy="365125"/>
          </a:xfrm>
        </p:spPr>
        <p:txBody>
          <a:bodyPr/>
          <a:lstStyle/>
          <a:p>
            <a:pPr rtl="0"/>
            <a:endParaRPr lang="en-GB" noProof="0" dirty="0"/>
          </a:p>
        </p:txBody>
      </p:sp>
      <p:sp>
        <p:nvSpPr>
          <p:cNvPr id="7" name="Slide Number Placeholder 6"/>
          <p:cNvSpPr>
            <a:spLocks noGrp="1"/>
          </p:cNvSpPr>
          <p:nvPr>
            <p:ph type="sldNum" sz="quarter" idx="12"/>
          </p:nvPr>
        </p:nvSpPr>
        <p:spPr>
          <a:xfrm>
            <a:off x="10862452" y="381000"/>
            <a:ext cx="643748" cy="365125"/>
          </a:xfrm>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25470157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pPr rtl="0"/>
            <a:fld id="{047F37C8-3C73-45A6-8FAF-1E0E1F929AF7}" type="datetime1">
              <a:rPr lang="en-GB" noProof="0" smtClean="0"/>
              <a:t>30/07/2025</a:t>
            </a:fld>
            <a:endParaRPr lang="en-GB" noProof="0" dirty="0"/>
          </a:p>
        </p:txBody>
      </p:sp>
      <p:sp>
        <p:nvSpPr>
          <p:cNvPr id="6" name="Footer Placeholder 5"/>
          <p:cNvSpPr>
            <a:spLocks noGrp="1"/>
          </p:cNvSpPr>
          <p:nvPr>
            <p:ph type="ftr" sz="quarter" idx="11"/>
          </p:nvPr>
        </p:nvSpPr>
        <p:spPr>
          <a:xfrm>
            <a:off x="685800" y="379941"/>
            <a:ext cx="6991492" cy="365125"/>
          </a:xfrm>
        </p:spPr>
        <p:txBody>
          <a:bodyPr/>
          <a:lstStyle/>
          <a:p>
            <a:pPr rtl="0"/>
            <a:endParaRPr lang="en-GB" noProof="0" dirty="0"/>
          </a:p>
        </p:txBody>
      </p:sp>
      <p:sp>
        <p:nvSpPr>
          <p:cNvPr id="7" name="Slide Number Placeholder 6"/>
          <p:cNvSpPr>
            <a:spLocks noGrp="1"/>
          </p:cNvSpPr>
          <p:nvPr>
            <p:ph type="sldNum" sz="quarter" idx="12"/>
          </p:nvPr>
        </p:nvSpPr>
        <p:spPr>
          <a:xfrm>
            <a:off x="10862452" y="381000"/>
            <a:ext cx="643748" cy="365125"/>
          </a:xfrm>
        </p:spPr>
        <p:txBody>
          <a:bodyPr/>
          <a:lstStyle/>
          <a:p>
            <a:pPr rtl="0"/>
            <a:fld id="{3A98EE3D-8CD1-4C3F-BD1C-C98C9596463C}" type="slidenum">
              <a:rPr lang="en-GB" noProof="0" smtClean="0"/>
              <a:t>‹#›</a:t>
            </a:fld>
            <a:endParaRPr lang="en-GB" noProof="0"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734141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pPr rtl="0"/>
            <a:fld id="{047F37C8-3C73-45A6-8FAF-1E0E1F929AF7}" type="datetime1">
              <a:rPr lang="en-GB" noProof="0" smtClean="0"/>
              <a:t>30/07/2025</a:t>
            </a:fld>
            <a:endParaRPr lang="en-GB" noProof="0" dirty="0"/>
          </a:p>
        </p:txBody>
      </p:sp>
      <p:sp>
        <p:nvSpPr>
          <p:cNvPr id="6" name="Footer Placeholder 5"/>
          <p:cNvSpPr>
            <a:spLocks noGrp="1"/>
          </p:cNvSpPr>
          <p:nvPr>
            <p:ph type="ftr" sz="quarter" idx="11"/>
          </p:nvPr>
        </p:nvSpPr>
        <p:spPr>
          <a:xfrm>
            <a:off x="685800" y="378883"/>
            <a:ext cx="6991492" cy="365125"/>
          </a:xfrm>
        </p:spPr>
        <p:txBody>
          <a:bodyPr/>
          <a:lstStyle/>
          <a:p>
            <a:pPr rtl="0"/>
            <a:endParaRPr lang="en-GB" noProof="0" dirty="0"/>
          </a:p>
        </p:txBody>
      </p:sp>
      <p:sp>
        <p:nvSpPr>
          <p:cNvPr id="7" name="Slide Number Placeholder 6"/>
          <p:cNvSpPr>
            <a:spLocks noGrp="1"/>
          </p:cNvSpPr>
          <p:nvPr>
            <p:ph type="sldNum" sz="quarter" idx="12"/>
          </p:nvPr>
        </p:nvSpPr>
        <p:spPr>
          <a:xfrm>
            <a:off x="10862452" y="381000"/>
            <a:ext cx="643748" cy="365125"/>
          </a:xfrm>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384851582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pPr rtl="0"/>
            <a:fld id="{047F37C8-3C73-45A6-8FAF-1E0E1F929AF7}" type="datetime1">
              <a:rPr lang="en-GB" noProof="0" smtClean="0"/>
              <a:t>30/07/2025</a:t>
            </a:fld>
            <a:endParaRPr lang="en-GB" noProof="0" dirty="0"/>
          </a:p>
        </p:txBody>
      </p:sp>
      <p:sp>
        <p:nvSpPr>
          <p:cNvPr id="4" name="Footer Placeholder 3"/>
          <p:cNvSpPr>
            <a:spLocks noGrp="1"/>
          </p:cNvSpPr>
          <p:nvPr>
            <p:ph type="ftr" sz="quarter" idx="11"/>
          </p:nvPr>
        </p:nvSpPr>
        <p:spPr/>
        <p:txBody>
          <a:bodyPr/>
          <a:lstStyle/>
          <a:p>
            <a:pPr rtl="0"/>
            <a:endParaRPr lang="en-GB" noProof="0" dirty="0"/>
          </a:p>
        </p:txBody>
      </p:sp>
      <p:sp>
        <p:nvSpPr>
          <p:cNvPr id="5" name="Slide Number Placeholder 4"/>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89564349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pPr rtl="0"/>
            <a:fld id="{047F37C8-3C73-45A6-8FAF-1E0E1F929AF7}" type="datetime1">
              <a:rPr lang="en-GB" noProof="0" smtClean="0"/>
              <a:t>30/07/2025</a:t>
            </a:fld>
            <a:endParaRPr lang="en-GB" noProof="0" dirty="0"/>
          </a:p>
        </p:txBody>
      </p:sp>
      <p:sp>
        <p:nvSpPr>
          <p:cNvPr id="4" name="Footer Placeholder 3"/>
          <p:cNvSpPr>
            <a:spLocks noGrp="1"/>
          </p:cNvSpPr>
          <p:nvPr>
            <p:ph type="ftr" sz="quarter" idx="11"/>
          </p:nvPr>
        </p:nvSpPr>
        <p:spPr/>
        <p:txBody>
          <a:bodyPr/>
          <a:lstStyle/>
          <a:p>
            <a:pPr rtl="0"/>
            <a:endParaRPr lang="en-GB" noProof="0" dirty="0"/>
          </a:p>
        </p:txBody>
      </p:sp>
      <p:sp>
        <p:nvSpPr>
          <p:cNvPr id="5" name="Slide Number Placeholder 4"/>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4288428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rtl="0"/>
            <a:fld id="{047F37C8-3C73-45A6-8FAF-1E0E1F929AF7}" type="datetime1">
              <a:rPr lang="en-GB" noProof="0" smtClean="0"/>
              <a:t>30/07/2025</a:t>
            </a:fld>
            <a:endParaRPr lang="en-GB" noProof="0" dirty="0"/>
          </a:p>
        </p:txBody>
      </p:sp>
      <p:sp>
        <p:nvSpPr>
          <p:cNvPr id="5" name="Footer Placeholder 4"/>
          <p:cNvSpPr>
            <a:spLocks noGrp="1"/>
          </p:cNvSpPr>
          <p:nvPr>
            <p:ph type="ftr" sz="quarter" idx="11"/>
          </p:nvPr>
        </p:nvSpPr>
        <p:spPr/>
        <p:txBody>
          <a:bodyPr/>
          <a:lstStyle/>
          <a:p>
            <a:pPr rtl="0"/>
            <a:endParaRPr lang="en-GB" noProof="0" dirty="0"/>
          </a:p>
        </p:txBody>
      </p:sp>
      <p:sp>
        <p:nvSpPr>
          <p:cNvPr id="6" name="Slide Number Placeholder 5"/>
          <p:cNvSpPr>
            <a:spLocks noGrp="1"/>
          </p:cNvSpPr>
          <p:nvPr>
            <p:ph type="sldNum" sz="quarter" idx="12"/>
          </p:nvPr>
        </p:nvSpPr>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84436332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pPr rtl="0"/>
            <a:fld id="{047F37C8-3C73-45A6-8FAF-1E0E1F929AF7}" type="datetime1">
              <a:rPr lang="en-GB" noProof="0" smtClean="0"/>
              <a:t>30/07/2025</a:t>
            </a:fld>
            <a:endParaRPr lang="en-GB" noProof="0" dirty="0"/>
          </a:p>
        </p:txBody>
      </p:sp>
      <p:sp>
        <p:nvSpPr>
          <p:cNvPr id="5" name="Footer Placeholder 4"/>
          <p:cNvSpPr>
            <a:spLocks noGrp="1"/>
          </p:cNvSpPr>
          <p:nvPr>
            <p:ph type="ftr" sz="quarter" idx="11"/>
          </p:nvPr>
        </p:nvSpPr>
        <p:spPr>
          <a:xfrm>
            <a:off x="685800" y="381000"/>
            <a:ext cx="6991492" cy="365125"/>
          </a:xfrm>
        </p:spPr>
        <p:txBody>
          <a:bodyPr/>
          <a:lstStyle/>
          <a:p>
            <a:pPr rtl="0"/>
            <a:endParaRPr lang="en-GB" noProof="0" dirty="0"/>
          </a:p>
        </p:txBody>
      </p:sp>
      <p:sp>
        <p:nvSpPr>
          <p:cNvPr id="6" name="Slide Number Placeholder 5"/>
          <p:cNvSpPr>
            <a:spLocks noGrp="1"/>
          </p:cNvSpPr>
          <p:nvPr>
            <p:ph type="sldNum" sz="quarter" idx="12"/>
          </p:nvPr>
        </p:nvSpPr>
        <p:spPr>
          <a:xfrm>
            <a:off x="10862452" y="381000"/>
            <a:ext cx="643748" cy="365125"/>
          </a:xfrm>
        </p:spPr>
        <p:txBody>
          <a:body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408916367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047F37C8-3C73-45A6-8FAF-1E0E1F929AF7}" type="datetime1">
              <a:rPr lang="en-GB" noProof="0" smtClean="0"/>
              <a:t>30/07/2025</a:t>
            </a:fld>
            <a:endParaRPr lang="en-GB" noProof="0"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pPr rtl="0"/>
            <a:endParaRPr lang="en-GB" noProof="0"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3010955693"/>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22" descr="Best Institute for Data Analytics &amp; Data Science Courses">
            <a:extLst>
              <a:ext uri="{FF2B5EF4-FFF2-40B4-BE49-F238E27FC236}">
                <a16:creationId xmlns:a16="http://schemas.microsoft.com/office/drawing/2014/main" id="{4C1CB060-148E-6487-AEB3-EC9F367CB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022" y="0"/>
            <a:ext cx="7297383" cy="729738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2E0935F-6BDD-2A3E-858A-2CBB2DA81CFD}"/>
              </a:ext>
            </a:extLst>
          </p:cNvPr>
          <p:cNvSpPr txBox="1"/>
          <p:nvPr/>
        </p:nvSpPr>
        <p:spPr>
          <a:xfrm>
            <a:off x="11761694" y="215153"/>
            <a:ext cx="184731" cy="369332"/>
          </a:xfrm>
          <a:prstGeom prst="rect">
            <a:avLst/>
          </a:prstGeom>
          <a:noFill/>
        </p:spPr>
        <p:txBody>
          <a:bodyPr wrap="none" rtlCol="0">
            <a:spAutoFit/>
          </a:bodyPr>
          <a:lstStyle/>
          <a:p>
            <a:endParaRPr lang="en-US" dirty="0"/>
          </a:p>
        </p:txBody>
      </p:sp>
      <p:pic>
        <p:nvPicPr>
          <p:cNvPr id="13" name="Picture 4" descr="John Lewis Logo PNG Transparent &amp; SVG Vector - Freebie Supply">
            <a:extLst>
              <a:ext uri="{FF2B5EF4-FFF2-40B4-BE49-F238E27FC236}">
                <a16:creationId xmlns:a16="http://schemas.microsoft.com/office/drawing/2014/main" id="{FE556664-4C92-B11A-8231-2FECD5742B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575" y="215153"/>
            <a:ext cx="5271135" cy="527113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C71DA96-A515-E350-9EF7-40F11070D13B}"/>
              </a:ext>
            </a:extLst>
          </p:cNvPr>
          <p:cNvSpPr txBox="1"/>
          <p:nvPr/>
        </p:nvSpPr>
        <p:spPr>
          <a:xfrm>
            <a:off x="489646" y="3429000"/>
            <a:ext cx="5271135" cy="2308324"/>
          </a:xfrm>
          <a:prstGeom prst="rect">
            <a:avLst/>
          </a:prstGeom>
          <a:noFill/>
        </p:spPr>
        <p:txBody>
          <a:bodyPr wrap="square">
            <a:spAutoFit/>
          </a:bodyPr>
          <a:lstStyle/>
          <a:p>
            <a:r>
              <a:rPr lang="en-GB" sz="3600" dirty="0"/>
              <a:t>End-to-End Business Analysis: Sales, Profitability &amp; Trends 2023</a:t>
            </a:r>
          </a:p>
        </p:txBody>
      </p:sp>
    </p:spTree>
    <p:extLst>
      <p:ext uri="{BB962C8B-B14F-4D97-AF65-F5344CB8AC3E}">
        <p14:creationId xmlns:p14="http://schemas.microsoft.com/office/powerpoint/2010/main" val="265522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1507D82-3710-410F-B2AD-AA1BD9A0CE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22" name="Picture 21">
            <a:extLst>
              <a:ext uri="{FF2B5EF4-FFF2-40B4-BE49-F238E27FC236}">
                <a16:creationId xmlns:a16="http://schemas.microsoft.com/office/drawing/2014/main" id="{F869AD28-DB47-4DD2-9BF8-0706E45176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23" name="Rectangle 22">
            <a:extLst>
              <a:ext uri="{FF2B5EF4-FFF2-40B4-BE49-F238E27FC236}">
                <a16:creationId xmlns:a16="http://schemas.microsoft.com/office/drawing/2014/main" id="{A5CF4EDB-95F6-4063-870C-DE37E4E09E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EC2E4-6CF2-07B1-92B9-2AB654B22B8E}"/>
              </a:ext>
            </a:extLst>
          </p:cNvPr>
          <p:cNvSpPr>
            <a:spLocks noGrp="1"/>
          </p:cNvSpPr>
          <p:nvPr>
            <p:ph type="title"/>
          </p:nvPr>
        </p:nvSpPr>
        <p:spPr>
          <a:xfrm>
            <a:off x="729225" y="-417382"/>
            <a:ext cx="5959540" cy="3446373"/>
          </a:xfrm>
          <a:noFill/>
          <a:ln w="19050">
            <a:noFill/>
            <a:prstDash val="dash"/>
          </a:ln>
        </p:spPr>
        <p:txBody>
          <a:bodyPr vert="horz" lIns="91440" tIns="45720" rIns="91440" bIns="45720" rtlCol="0" anchor="b">
            <a:normAutofit/>
          </a:bodyPr>
          <a:lstStyle/>
          <a:p>
            <a:pPr algn="l"/>
            <a:r>
              <a:rPr lang="en-US" sz="5400" dirty="0"/>
              <a:t>KPI </a:t>
            </a:r>
            <a:r>
              <a:rPr lang="en-US" sz="5400" dirty="0">
                <a:sym typeface="Wingdings" pitchFamily="2" charset="2"/>
              </a:rPr>
              <a:t> Sales, Quantity, And Profit</a:t>
            </a:r>
            <a:endParaRPr lang="en-US" sz="5400" dirty="0"/>
          </a:p>
        </p:txBody>
      </p:sp>
      <p:pic>
        <p:nvPicPr>
          <p:cNvPr id="24" name="Picture 23">
            <a:extLst>
              <a:ext uri="{FF2B5EF4-FFF2-40B4-BE49-F238E27FC236}">
                <a16:creationId xmlns:a16="http://schemas.microsoft.com/office/drawing/2014/main" id="{C799870A-88C3-46BC-BC3F-B6DE19B311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8175"/>
          <a:stretch/>
        </p:blipFill>
        <p:spPr>
          <a:xfrm>
            <a:off x="4654292" y="4375150"/>
            <a:ext cx="7537708" cy="2482850"/>
          </a:xfrm>
          <a:prstGeom prst="rect">
            <a:avLst/>
          </a:prstGeom>
        </p:spPr>
      </p:pic>
      <p:sp>
        <p:nvSpPr>
          <p:cNvPr id="20" name="Rectangle 19">
            <a:extLst>
              <a:ext uri="{FF2B5EF4-FFF2-40B4-BE49-F238E27FC236}">
                <a16:creationId xmlns:a16="http://schemas.microsoft.com/office/drawing/2014/main" id="{57953F75-B7F7-476A-8035-92984F0D7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46782" y="-1"/>
            <a:ext cx="4245218" cy="5367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BAC6A4E-6CF2-77DD-E61D-9CC338F84616}"/>
              </a:ext>
            </a:extLst>
          </p:cNvPr>
          <p:cNvPicPr>
            <a:picLocks noChangeAspect="1"/>
          </p:cNvPicPr>
          <p:nvPr/>
        </p:nvPicPr>
        <p:blipFill>
          <a:blip r:embed="rId4"/>
          <a:stretch>
            <a:fillRect/>
          </a:stretch>
        </p:blipFill>
        <p:spPr>
          <a:xfrm>
            <a:off x="7422777" y="2391454"/>
            <a:ext cx="3717332" cy="2075092"/>
          </a:xfrm>
          <a:prstGeom prst="rect">
            <a:avLst/>
          </a:prstGeom>
          <a:solidFill>
            <a:srgbClr val="FFFFFF">
              <a:shade val="85000"/>
            </a:srgbClr>
          </a:solidFill>
          <a:ln w="8890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A24B8788-94E7-A661-4052-A64DD77AE4FC}"/>
              </a:ext>
            </a:extLst>
          </p:cNvPr>
          <p:cNvPicPr>
            <a:picLocks noChangeAspect="1"/>
          </p:cNvPicPr>
          <p:nvPr/>
        </p:nvPicPr>
        <p:blipFill>
          <a:blip r:embed="rId5"/>
          <a:stretch>
            <a:fillRect/>
          </a:stretch>
        </p:blipFill>
        <p:spPr>
          <a:xfrm>
            <a:off x="7420384" y="337100"/>
            <a:ext cx="3719725" cy="1813224"/>
          </a:xfrm>
          <a:prstGeom prst="rect">
            <a:avLst/>
          </a:prstGeom>
          <a:solidFill>
            <a:srgbClr val="FFFFFF">
              <a:shade val="85000"/>
            </a:srgbClr>
          </a:solidFill>
          <a:ln w="8890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49CB373D-BD1B-720C-2F44-CD53C8F53199}"/>
              </a:ext>
            </a:extLst>
          </p:cNvPr>
          <p:cNvPicPr>
            <a:picLocks noChangeAspect="1"/>
          </p:cNvPicPr>
          <p:nvPr/>
        </p:nvPicPr>
        <p:blipFill>
          <a:blip r:embed="rId6"/>
          <a:stretch>
            <a:fillRect/>
          </a:stretch>
        </p:blipFill>
        <p:spPr>
          <a:xfrm>
            <a:off x="7420384" y="4704263"/>
            <a:ext cx="3719725" cy="2011723"/>
          </a:xfrm>
          <a:prstGeom prst="rect">
            <a:avLst/>
          </a:prstGeom>
          <a:solidFill>
            <a:srgbClr val="FFFFFF">
              <a:shade val="85000"/>
            </a:srgbClr>
          </a:solidFill>
          <a:ln w="8890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4" descr="John Lewis Logo PNG Transparent &amp; SVG Vector - Freebie Supply">
            <a:extLst>
              <a:ext uri="{FF2B5EF4-FFF2-40B4-BE49-F238E27FC236}">
                <a16:creationId xmlns:a16="http://schemas.microsoft.com/office/drawing/2014/main" id="{2582CE84-F44C-E720-9FD4-5565CEA614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Kpi PNG para descargar gratis">
            <a:extLst>
              <a:ext uri="{FF2B5EF4-FFF2-40B4-BE49-F238E27FC236}">
                <a16:creationId xmlns:a16="http://schemas.microsoft.com/office/drawing/2014/main" id="{FEC3FDF3-32B4-5AEA-434A-D92220CA6C5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742" y="2482850"/>
            <a:ext cx="5804454" cy="3812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419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1FDA49-3405-24A7-8A74-B33C19FF76A0}"/>
              </a:ext>
            </a:extLst>
          </p:cNvPr>
          <p:cNvPicPr>
            <a:picLocks noChangeAspect="1"/>
          </p:cNvPicPr>
          <p:nvPr/>
        </p:nvPicPr>
        <p:blipFill>
          <a:blip r:embed="rId2"/>
          <a:stretch>
            <a:fillRect/>
          </a:stretch>
        </p:blipFill>
        <p:spPr>
          <a:xfrm>
            <a:off x="0" y="2148864"/>
            <a:ext cx="7785296" cy="4709136"/>
          </a:xfrm>
          <a:prstGeom prst="rect">
            <a:avLst/>
          </a:prstGeom>
        </p:spPr>
      </p:pic>
      <p:sp>
        <p:nvSpPr>
          <p:cNvPr id="6" name="TextBox 5">
            <a:extLst>
              <a:ext uri="{FF2B5EF4-FFF2-40B4-BE49-F238E27FC236}">
                <a16:creationId xmlns:a16="http://schemas.microsoft.com/office/drawing/2014/main" id="{C30F931E-3115-5338-61BB-9C3E22BECCB4}"/>
              </a:ext>
            </a:extLst>
          </p:cNvPr>
          <p:cNvSpPr txBox="1"/>
          <p:nvPr/>
        </p:nvSpPr>
        <p:spPr>
          <a:xfrm>
            <a:off x="7924800" y="2148864"/>
            <a:ext cx="4267200" cy="4247317"/>
          </a:xfrm>
          <a:prstGeom prst="rect">
            <a:avLst/>
          </a:prstGeom>
          <a:noFill/>
        </p:spPr>
        <p:txBody>
          <a:bodyPr wrap="square">
            <a:spAutoFit/>
          </a:bodyPr>
          <a:lstStyle/>
          <a:p>
            <a:pPr>
              <a:buNone/>
            </a:pPr>
            <a:r>
              <a:rPr lang="en-GB" b="1" dirty="0">
                <a:latin typeface="Times New Roman" panose="02020603050405020304" pitchFamily="18" charset="0"/>
                <a:cs typeface="Times New Roman" panose="02020603050405020304" pitchFamily="18" charset="0"/>
              </a:rPr>
              <a:t>Regional Sales Distribution</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The analysis reveals the </a:t>
            </a:r>
            <a:r>
              <a:rPr lang="en-GB" b="1" dirty="0">
                <a:latin typeface="Times New Roman" panose="02020603050405020304" pitchFamily="18" charset="0"/>
                <a:cs typeface="Times New Roman" panose="02020603050405020304" pitchFamily="18" charset="0"/>
              </a:rPr>
              <a:t>North</a:t>
            </a:r>
            <a:r>
              <a:rPr lang="en-GB" dirty="0">
                <a:latin typeface="Times New Roman" panose="02020603050405020304" pitchFamily="18" charset="0"/>
                <a:cs typeface="Times New Roman" panose="02020603050405020304" pitchFamily="18" charset="0"/>
              </a:rPr>
              <a:t> UK as the leading sales region (£1.37M), showing strong market demand and effective sales strategies.</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East</a:t>
            </a:r>
            <a:r>
              <a:rPr lang="en-GB" dirty="0">
                <a:latin typeface="Times New Roman" panose="02020603050405020304" pitchFamily="18" charset="0"/>
                <a:cs typeface="Times New Roman" panose="02020603050405020304" pitchFamily="18" charset="0"/>
              </a:rPr>
              <a:t> (£1.26M) and </a:t>
            </a:r>
            <a:r>
              <a:rPr lang="en-GB" b="1" dirty="0">
                <a:latin typeface="Times New Roman" panose="02020603050405020304" pitchFamily="18" charset="0"/>
                <a:cs typeface="Times New Roman" panose="02020603050405020304" pitchFamily="18" charset="0"/>
              </a:rPr>
              <a:t>West</a:t>
            </a:r>
            <a:r>
              <a:rPr lang="en-GB" dirty="0">
                <a:latin typeface="Times New Roman" panose="02020603050405020304" pitchFamily="18" charset="0"/>
                <a:cs typeface="Times New Roman" panose="02020603050405020304" pitchFamily="18" charset="0"/>
              </a:rPr>
              <a:t> (£1.23M) closely follow, indicating balanced performance across these regions.</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South</a:t>
            </a:r>
            <a:r>
              <a:rPr lang="en-GB" dirty="0">
                <a:latin typeface="Times New Roman" panose="02020603050405020304" pitchFamily="18" charset="0"/>
                <a:cs typeface="Times New Roman" panose="02020603050405020304" pitchFamily="18" charset="0"/>
              </a:rPr>
              <a:t> (£1.15M) records the lowest sales, highlighting a potential area for growth through targeted campaigns or localised promotions.</a:t>
            </a:r>
          </a:p>
          <a:p>
            <a:r>
              <a:rPr lang="en-GB" dirty="0">
                <a:latin typeface="Times New Roman" panose="02020603050405020304" pitchFamily="18" charset="0"/>
                <a:cs typeface="Times New Roman" panose="02020603050405020304" pitchFamily="18" charset="0"/>
              </a:rPr>
              <a:t>This regional breakdown helps identify high-performing markets and where focused efforts can boost sales penetration.</a:t>
            </a:r>
          </a:p>
        </p:txBody>
      </p:sp>
      <p:sp>
        <p:nvSpPr>
          <p:cNvPr id="8" name="TextBox 7">
            <a:extLst>
              <a:ext uri="{FF2B5EF4-FFF2-40B4-BE49-F238E27FC236}">
                <a16:creationId xmlns:a16="http://schemas.microsoft.com/office/drawing/2014/main" id="{6555F670-964B-FF3E-0643-C25A944DF245}"/>
              </a:ext>
            </a:extLst>
          </p:cNvPr>
          <p:cNvSpPr txBox="1"/>
          <p:nvPr/>
        </p:nvSpPr>
        <p:spPr>
          <a:xfrm>
            <a:off x="3389376" y="1247894"/>
            <a:ext cx="6096000" cy="461665"/>
          </a:xfrm>
          <a:prstGeom prst="rect">
            <a:avLst/>
          </a:prstGeom>
          <a:noFill/>
        </p:spPr>
        <p:txBody>
          <a:bodyPr wrap="square">
            <a:spAutoFit/>
          </a:bodyPr>
          <a:lstStyle/>
          <a:p>
            <a:r>
              <a:rPr lang="en-GB" sz="2400" dirty="0"/>
              <a:t>Region-wise Sales (£) in UK</a:t>
            </a:r>
            <a:endParaRPr lang="en-US" sz="2400" dirty="0"/>
          </a:p>
        </p:txBody>
      </p:sp>
      <p:pic>
        <p:nvPicPr>
          <p:cNvPr id="10" name="Picture 4" descr="John Lewis Logo PNG Transparent &amp; SVG Vector - Freebie Supply">
            <a:extLst>
              <a:ext uri="{FF2B5EF4-FFF2-40B4-BE49-F238E27FC236}">
                <a16:creationId xmlns:a16="http://schemas.microsoft.com/office/drawing/2014/main" id="{7BAE754C-D087-7004-8576-F999B85C2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20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66406-1C29-0983-DFC0-CF018F9B084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8854789-0333-565A-D1EF-8AD2DCC1D8B9}"/>
              </a:ext>
            </a:extLst>
          </p:cNvPr>
          <p:cNvSpPr txBox="1"/>
          <p:nvPr/>
        </p:nvSpPr>
        <p:spPr>
          <a:xfrm>
            <a:off x="7924800" y="2417088"/>
            <a:ext cx="4267200" cy="3416320"/>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Sales Distribution by Product Category</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The sales analysis highlights that </a:t>
            </a:r>
            <a:r>
              <a:rPr lang="en-GB" b="1" dirty="0">
                <a:latin typeface="Times New Roman" panose="02020603050405020304" pitchFamily="18" charset="0"/>
                <a:cs typeface="Times New Roman" panose="02020603050405020304" pitchFamily="18" charset="0"/>
              </a:rPr>
              <a:t>Clothing leads all categories (£1.31M)</a:t>
            </a:r>
            <a:r>
              <a:rPr lang="en-GB" dirty="0">
                <a:latin typeface="Times New Roman" panose="02020603050405020304" pitchFamily="18" charset="0"/>
                <a:cs typeface="Times New Roman" panose="02020603050405020304" pitchFamily="18" charset="0"/>
              </a:rPr>
              <a:t>, suggesting strong consumer demand and seasonal trends driving purchases.</a:t>
            </a:r>
          </a:p>
          <a:p>
            <a:r>
              <a:rPr lang="en-GB" b="1" dirty="0">
                <a:latin typeface="Times New Roman" panose="02020603050405020304" pitchFamily="18" charset="0"/>
                <a:cs typeface="Times New Roman" panose="02020603050405020304" pitchFamily="18" charset="0"/>
              </a:rPr>
              <a:t>Furniture (£1.26M)</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Electronics (£1.24M)</a:t>
            </a:r>
            <a:r>
              <a:rPr lang="en-GB" dirty="0">
                <a:latin typeface="Times New Roman" panose="02020603050405020304" pitchFamily="18" charset="0"/>
                <a:cs typeface="Times New Roman" panose="02020603050405020304" pitchFamily="18" charset="0"/>
              </a:rPr>
              <a:t> show </a:t>
            </a:r>
            <a:r>
              <a:rPr lang="en-GB" b="1" dirty="0">
                <a:latin typeface="Times New Roman" panose="02020603050405020304" pitchFamily="18" charset="0"/>
                <a:cs typeface="Times New Roman" panose="02020603050405020304" pitchFamily="18" charset="0"/>
              </a:rPr>
              <a:t>closely competitive performance</a:t>
            </a:r>
            <a:r>
              <a:rPr lang="en-GB" dirty="0">
                <a:latin typeface="Times New Roman" panose="02020603050405020304" pitchFamily="18" charset="0"/>
                <a:cs typeface="Times New Roman" panose="02020603050405020304" pitchFamily="18" charset="0"/>
              </a:rPr>
              <a:t>, reflecting steady household and tech-related spending.</a:t>
            </a:r>
          </a:p>
          <a:p>
            <a:r>
              <a:rPr lang="en-GB" b="1" dirty="0">
                <a:latin typeface="Times New Roman" panose="02020603050405020304" pitchFamily="18" charset="0"/>
                <a:cs typeface="Times New Roman" panose="02020603050405020304" pitchFamily="18" charset="0"/>
              </a:rPr>
              <a:t>Food (£1.20M)</a:t>
            </a:r>
            <a:r>
              <a:rPr lang="en-GB" dirty="0">
                <a:latin typeface="Times New Roman" panose="02020603050405020304" pitchFamily="18" charset="0"/>
                <a:cs typeface="Times New Roman" panose="02020603050405020304" pitchFamily="18" charset="0"/>
              </a:rPr>
              <a:t>, while slightly lower, remains a </a:t>
            </a:r>
            <a:r>
              <a:rPr lang="en-GB" b="1" dirty="0">
                <a:latin typeface="Times New Roman" panose="02020603050405020304" pitchFamily="18" charset="0"/>
                <a:cs typeface="Times New Roman" panose="02020603050405020304" pitchFamily="18" charset="0"/>
              </a:rPr>
              <a:t>core contributor</a:t>
            </a:r>
            <a:r>
              <a:rPr lang="en-GB" dirty="0">
                <a:latin typeface="Times New Roman" panose="02020603050405020304" pitchFamily="18" charset="0"/>
                <a:cs typeface="Times New Roman" panose="02020603050405020304" pitchFamily="18" charset="0"/>
              </a:rPr>
              <a:t>, emphasising its consistent role in everyday essentials.</a:t>
            </a:r>
          </a:p>
        </p:txBody>
      </p:sp>
      <p:sp>
        <p:nvSpPr>
          <p:cNvPr id="8" name="TextBox 7">
            <a:extLst>
              <a:ext uri="{FF2B5EF4-FFF2-40B4-BE49-F238E27FC236}">
                <a16:creationId xmlns:a16="http://schemas.microsoft.com/office/drawing/2014/main" id="{DC910EFE-0892-0591-C866-3BA751A29FB6}"/>
              </a:ext>
            </a:extLst>
          </p:cNvPr>
          <p:cNvSpPr txBox="1"/>
          <p:nvPr/>
        </p:nvSpPr>
        <p:spPr>
          <a:xfrm>
            <a:off x="3389376" y="1247894"/>
            <a:ext cx="6096000" cy="461665"/>
          </a:xfrm>
          <a:prstGeom prst="rect">
            <a:avLst/>
          </a:prstGeom>
          <a:noFill/>
        </p:spPr>
        <p:txBody>
          <a:bodyPr wrap="square">
            <a:spAutoFit/>
          </a:bodyPr>
          <a:lstStyle/>
          <a:p>
            <a:r>
              <a:rPr lang="en-GB" sz="2400" dirty="0"/>
              <a:t>Sales BY Product Category (£) in UK</a:t>
            </a:r>
            <a:endParaRPr lang="en-US" sz="2400" dirty="0"/>
          </a:p>
        </p:txBody>
      </p:sp>
      <p:pic>
        <p:nvPicPr>
          <p:cNvPr id="10" name="Picture 9">
            <a:extLst>
              <a:ext uri="{FF2B5EF4-FFF2-40B4-BE49-F238E27FC236}">
                <a16:creationId xmlns:a16="http://schemas.microsoft.com/office/drawing/2014/main" id="{87EAD4F2-F784-C281-9701-A1B0346380C5}"/>
              </a:ext>
            </a:extLst>
          </p:cNvPr>
          <p:cNvPicPr>
            <a:picLocks noChangeAspect="1"/>
          </p:cNvPicPr>
          <p:nvPr/>
        </p:nvPicPr>
        <p:blipFill>
          <a:blip r:embed="rId2"/>
          <a:stretch>
            <a:fillRect/>
          </a:stretch>
        </p:blipFill>
        <p:spPr>
          <a:xfrm>
            <a:off x="163575" y="2170176"/>
            <a:ext cx="7706787" cy="4687824"/>
          </a:xfrm>
          <a:prstGeom prst="rect">
            <a:avLst/>
          </a:prstGeom>
        </p:spPr>
      </p:pic>
      <p:pic>
        <p:nvPicPr>
          <p:cNvPr id="11" name="Picture 4" descr="John Lewis Logo PNG Transparent &amp; SVG Vector - Freebie Supply">
            <a:extLst>
              <a:ext uri="{FF2B5EF4-FFF2-40B4-BE49-F238E27FC236}">
                <a16:creationId xmlns:a16="http://schemas.microsoft.com/office/drawing/2014/main" id="{DED68D31-2F78-9F38-A40D-E5742C7B9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60300"/>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629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E45DD-6FCC-D08B-D4D9-8282F5D6383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42D9FDD-6D41-C2BF-9014-28163AECD019}"/>
              </a:ext>
            </a:extLst>
          </p:cNvPr>
          <p:cNvSpPr txBox="1"/>
          <p:nvPr/>
        </p:nvSpPr>
        <p:spPr>
          <a:xfrm>
            <a:off x="335277" y="4162709"/>
            <a:ext cx="11673841" cy="2554545"/>
          </a:xfrm>
          <a:prstGeom prst="rect">
            <a:avLst/>
          </a:prstGeom>
          <a:noFill/>
        </p:spPr>
        <p:txBody>
          <a:bodyPr wrap="square">
            <a:spAutoFit/>
          </a:bodyPr>
          <a:lstStyle/>
          <a:p>
            <a:r>
              <a:rPr lang="en-GB" sz="1600" b="1" dirty="0">
                <a:latin typeface="Times New Roman" panose="02020603050405020304" pitchFamily="18" charset="0"/>
                <a:cs typeface="Times New Roman" panose="02020603050405020304" pitchFamily="18" charset="0"/>
              </a:rPr>
              <a:t>Sales Trend Summary (Jan–Dec 2023):</a:t>
            </a:r>
          </a:p>
          <a:p>
            <a:pPr algn="just"/>
            <a:r>
              <a:rPr lang="en-GB" dirty="0">
                <a:latin typeface="Times New Roman" panose="02020603050405020304" pitchFamily="18" charset="0"/>
                <a:cs typeface="Times New Roman" panose="02020603050405020304" pitchFamily="18" charset="0"/>
              </a:rPr>
              <a:t>The sales trend from January to December 2023 shows notable fluctuations throughout the year. Sales began strongly in January at £476.1k, likely benefiting from post-holiday momentum, but dropped sharply in February to £368.9k. The following months saw steady recovery, with March reaching £402.6k and April peaking at £439k. Mid-year sales (May to July) displayed moderate volatility, while September recorded the lowest point of the year at £367.8k. However, performance improved significantly in the final quarter, driven by seasonal shopping events, with October and November achieving £460.4k and £467.5k, respectively. December experienced a slight decline to £392.6k, reflecting a typical post-holiday slowdown. Overall, strong Q4 performance helped stabilise annual sales, underscoring the impact of holiday-driven consumer spending.</a:t>
            </a:r>
          </a:p>
        </p:txBody>
      </p:sp>
      <p:pic>
        <p:nvPicPr>
          <p:cNvPr id="3" name="Picture 2">
            <a:extLst>
              <a:ext uri="{FF2B5EF4-FFF2-40B4-BE49-F238E27FC236}">
                <a16:creationId xmlns:a16="http://schemas.microsoft.com/office/drawing/2014/main" id="{567D87A7-3E68-D113-C2C8-DE5224D9A890}"/>
              </a:ext>
            </a:extLst>
          </p:cNvPr>
          <p:cNvPicPr>
            <a:picLocks noChangeAspect="1"/>
          </p:cNvPicPr>
          <p:nvPr/>
        </p:nvPicPr>
        <p:blipFill>
          <a:blip r:embed="rId2"/>
          <a:stretch>
            <a:fillRect/>
          </a:stretch>
        </p:blipFill>
        <p:spPr>
          <a:xfrm>
            <a:off x="335277" y="746390"/>
            <a:ext cx="11759185" cy="3416319"/>
          </a:xfrm>
          <a:prstGeom prst="rect">
            <a:avLst/>
          </a:prstGeom>
        </p:spPr>
      </p:pic>
      <p:pic>
        <p:nvPicPr>
          <p:cNvPr id="4" name="Picture 4" descr="John Lewis Logo PNG Transparent &amp; SVG Vector - Freebie Supply">
            <a:extLst>
              <a:ext uri="{FF2B5EF4-FFF2-40B4-BE49-F238E27FC236}">
                <a16:creationId xmlns:a16="http://schemas.microsoft.com/office/drawing/2014/main" id="{8E540C1B-0F83-25F8-6BEA-E7D037B00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121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FF760-DD79-397D-3AA4-E0A2E5F99E8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99AA52-02E2-D73D-3EA1-7C186003E14C}"/>
              </a:ext>
            </a:extLst>
          </p:cNvPr>
          <p:cNvSpPr txBox="1"/>
          <p:nvPr/>
        </p:nvSpPr>
        <p:spPr>
          <a:xfrm>
            <a:off x="335277" y="4162709"/>
            <a:ext cx="11673841" cy="2277547"/>
          </a:xfrm>
          <a:prstGeom prst="rect">
            <a:avLst/>
          </a:prstGeom>
          <a:noFill/>
        </p:spPr>
        <p:txBody>
          <a:bodyPr wrap="square">
            <a:spAutoFit/>
          </a:bodyPr>
          <a:lstStyle/>
          <a:p>
            <a:r>
              <a:rPr lang="en-GB" sz="1600" b="1" dirty="0">
                <a:latin typeface="Times New Roman" panose="02020603050405020304" pitchFamily="18" charset="0"/>
                <a:cs typeface="Times New Roman" panose="02020603050405020304" pitchFamily="18" charset="0"/>
              </a:rPr>
              <a:t>Profit Trend Summary (Jan–Dec 2023):</a:t>
            </a:r>
          </a:p>
          <a:p>
            <a:pPr algn="just"/>
            <a:r>
              <a:rPr lang="en-GB" dirty="0">
                <a:latin typeface="Times New Roman" panose="02020603050405020304" pitchFamily="18" charset="0"/>
                <a:cs typeface="Times New Roman" panose="02020603050405020304" pitchFamily="18" charset="0"/>
              </a:rPr>
              <a:t>The profit trend from January to December 2023 demonstrates moderate fluctuations throughout the year. January recorded the highest profit of £49.44k, followed by a steady decline in February (£41.28k) and stabilising levels through March to May, averaging around £40k. June showed a strong rebound, reaching £45.52k, but July saw the lowest profit of the year at £32.06k, likely indicating seasonal or operational factors affecting margins. Profits recovered in August (£46.72k) and peaked again in October (£47.72k) during the holiday sales period. The year closed with stable profits in November (£42.58k) and December (£43.66k), reflecting consistent performance in Q4. Overall, while profit remained steady across most months, spikes during peak sales periods indicate strong profitability during high-demand seasons.</a:t>
            </a:r>
          </a:p>
        </p:txBody>
      </p:sp>
      <p:pic>
        <p:nvPicPr>
          <p:cNvPr id="4" name="Picture 3">
            <a:extLst>
              <a:ext uri="{FF2B5EF4-FFF2-40B4-BE49-F238E27FC236}">
                <a16:creationId xmlns:a16="http://schemas.microsoft.com/office/drawing/2014/main" id="{D57773AD-BEE6-3EAA-CBE8-1ED4138AD1C8}"/>
              </a:ext>
            </a:extLst>
          </p:cNvPr>
          <p:cNvPicPr>
            <a:picLocks noChangeAspect="1"/>
          </p:cNvPicPr>
          <p:nvPr/>
        </p:nvPicPr>
        <p:blipFill>
          <a:blip r:embed="rId2"/>
          <a:stretch>
            <a:fillRect/>
          </a:stretch>
        </p:blipFill>
        <p:spPr>
          <a:xfrm>
            <a:off x="484630" y="583528"/>
            <a:ext cx="11222739" cy="3422650"/>
          </a:xfrm>
          <a:prstGeom prst="rect">
            <a:avLst/>
          </a:prstGeom>
        </p:spPr>
      </p:pic>
      <p:pic>
        <p:nvPicPr>
          <p:cNvPr id="5" name="Picture 4" descr="John Lewis Logo PNG Transparent &amp; SVG Vector - Freebie Supply">
            <a:extLst>
              <a:ext uri="{FF2B5EF4-FFF2-40B4-BE49-F238E27FC236}">
                <a16:creationId xmlns:a16="http://schemas.microsoft.com/office/drawing/2014/main" id="{4E7392D4-CEE4-35AC-89F3-20AF29174F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252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04E70-1DAE-42D8-AE74-CEF9182F2FB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18F5E3F-BB60-A3A5-2F59-663E560CD0DD}"/>
              </a:ext>
            </a:extLst>
          </p:cNvPr>
          <p:cNvSpPr txBox="1"/>
          <p:nvPr/>
        </p:nvSpPr>
        <p:spPr>
          <a:xfrm>
            <a:off x="7754112" y="1709559"/>
            <a:ext cx="4437888" cy="5078313"/>
          </a:xfrm>
          <a:prstGeom prst="rect">
            <a:avLst/>
          </a:prstGeom>
          <a:noFill/>
        </p:spPr>
        <p:txBody>
          <a:bodyPr wrap="square">
            <a:spAutoFit/>
          </a:bodyPr>
          <a:lstStyle/>
          <a:p>
            <a:r>
              <a:rPr lang="en-GB" dirty="0">
                <a:latin typeface="Times New Roman" panose="02020603050405020304" pitchFamily="18" charset="0"/>
                <a:cs typeface="Times New Roman" panose="02020603050405020304" pitchFamily="18" charset="0"/>
              </a:rPr>
              <a:t>This chart illustrates </a:t>
            </a:r>
            <a:r>
              <a:rPr lang="en-GB" b="1" dirty="0">
                <a:latin typeface="Times New Roman" panose="02020603050405020304" pitchFamily="18" charset="0"/>
                <a:cs typeface="Times New Roman" panose="02020603050405020304" pitchFamily="18" charset="0"/>
              </a:rPr>
              <a:t>sales (£) distribution by customer type and sales channel</a:t>
            </a:r>
            <a:r>
              <a:rPr lang="en-GB" dirty="0">
                <a:latin typeface="Times New Roman" panose="02020603050405020304" pitchFamily="18" charset="0"/>
                <a:cs typeface="Times New Roman" panose="02020603050405020304" pitchFamily="18" charset="0"/>
              </a:rPr>
              <a:t> for John Lewis. It highlights that </a:t>
            </a:r>
            <a:r>
              <a:rPr lang="en-GB" b="1" dirty="0">
                <a:latin typeface="Times New Roman" panose="02020603050405020304" pitchFamily="18" charset="0"/>
                <a:cs typeface="Times New Roman" panose="02020603050405020304" pitchFamily="18" charset="0"/>
              </a:rPr>
              <a:t>retail sales among returning customers (£1.34M)</a:t>
            </a:r>
            <a:r>
              <a:rPr lang="en-GB" dirty="0">
                <a:latin typeface="Times New Roman" panose="02020603050405020304" pitchFamily="18" charset="0"/>
                <a:cs typeface="Times New Roman" panose="02020603050405020304" pitchFamily="18" charset="0"/>
              </a:rPr>
              <a:t> are the highest, showcasing the strong loyalty of repeat shoppers in physical stores. However, </a:t>
            </a:r>
            <a:r>
              <a:rPr lang="en-GB" b="1" dirty="0">
                <a:latin typeface="Times New Roman" panose="02020603050405020304" pitchFamily="18" charset="0"/>
                <a:cs typeface="Times New Roman" panose="02020603050405020304" pitchFamily="18" charset="0"/>
              </a:rPr>
              <a:t>new customers are contributing significantly through online channels (£1.28M)</a:t>
            </a:r>
            <a:r>
              <a:rPr lang="en-GB" dirty="0">
                <a:latin typeface="Times New Roman" panose="02020603050405020304" pitchFamily="18" charset="0"/>
                <a:cs typeface="Times New Roman" panose="02020603050405020304" pitchFamily="18" charset="0"/>
              </a:rPr>
              <a:t>, reflecting a growing trend in digital adoption. Although retail remains dominant for returning customers, online sales show competitive performance for both new and existing customers, underscoring the importance of an omnichannel strategy. This insight suggests focusing on </a:t>
            </a:r>
            <a:r>
              <a:rPr lang="en-GB" b="1" dirty="0">
                <a:latin typeface="Times New Roman" panose="02020603050405020304" pitchFamily="18" charset="0"/>
                <a:cs typeface="Times New Roman" panose="02020603050405020304" pitchFamily="18" charset="0"/>
              </a:rPr>
              <a:t>enhancing the online experience for new customers</a:t>
            </a:r>
            <a:r>
              <a:rPr lang="en-GB" dirty="0">
                <a:latin typeface="Times New Roman" panose="02020603050405020304" pitchFamily="18" charset="0"/>
                <a:cs typeface="Times New Roman" panose="02020603050405020304" pitchFamily="18" charset="0"/>
              </a:rPr>
              <a:t> while sustaining in-store engagement for loyal shoppers.</a:t>
            </a:r>
          </a:p>
        </p:txBody>
      </p:sp>
      <p:sp>
        <p:nvSpPr>
          <p:cNvPr id="8" name="TextBox 7">
            <a:extLst>
              <a:ext uri="{FF2B5EF4-FFF2-40B4-BE49-F238E27FC236}">
                <a16:creationId xmlns:a16="http://schemas.microsoft.com/office/drawing/2014/main" id="{5B7496B3-6B50-7066-5B64-07AC53AD187B}"/>
              </a:ext>
            </a:extLst>
          </p:cNvPr>
          <p:cNvSpPr txBox="1"/>
          <p:nvPr/>
        </p:nvSpPr>
        <p:spPr>
          <a:xfrm>
            <a:off x="3401568" y="878562"/>
            <a:ext cx="6096000" cy="830997"/>
          </a:xfrm>
          <a:prstGeom prst="rect">
            <a:avLst/>
          </a:prstGeom>
          <a:noFill/>
        </p:spPr>
        <p:txBody>
          <a:bodyPr wrap="square">
            <a:spAutoFit/>
          </a:bodyPr>
          <a:lstStyle/>
          <a:p>
            <a:r>
              <a:rPr lang="en-GB" sz="2400" dirty="0"/>
              <a:t>Customer Type and Sales Channel Performance Analysis (£)</a:t>
            </a:r>
            <a:endParaRPr lang="en-US" sz="2400" dirty="0"/>
          </a:p>
        </p:txBody>
      </p:sp>
      <p:pic>
        <p:nvPicPr>
          <p:cNvPr id="2" name="Picture 1">
            <a:extLst>
              <a:ext uri="{FF2B5EF4-FFF2-40B4-BE49-F238E27FC236}">
                <a16:creationId xmlns:a16="http://schemas.microsoft.com/office/drawing/2014/main" id="{A9157B48-4E22-10D9-759F-3DF15ECF4AA7}"/>
              </a:ext>
            </a:extLst>
          </p:cNvPr>
          <p:cNvPicPr>
            <a:picLocks noChangeAspect="1"/>
          </p:cNvPicPr>
          <p:nvPr/>
        </p:nvPicPr>
        <p:blipFill>
          <a:blip r:embed="rId2"/>
          <a:stretch>
            <a:fillRect/>
          </a:stretch>
        </p:blipFill>
        <p:spPr>
          <a:xfrm>
            <a:off x="-1" y="1804416"/>
            <a:ext cx="7754113" cy="4935591"/>
          </a:xfrm>
          <a:prstGeom prst="rect">
            <a:avLst/>
          </a:prstGeom>
        </p:spPr>
      </p:pic>
      <p:pic>
        <p:nvPicPr>
          <p:cNvPr id="3" name="Picture 4" descr="John Lewis Logo PNG Transparent &amp; SVG Vector - Freebie Supply">
            <a:extLst>
              <a:ext uri="{FF2B5EF4-FFF2-40B4-BE49-F238E27FC236}">
                <a16:creationId xmlns:a16="http://schemas.microsoft.com/office/drawing/2014/main" id="{0B202BAB-AFF7-5AEC-40D9-4227B8C9F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48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19BEC-6320-5572-583A-0346A93B3B9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4408777-3A7D-A1B0-DF65-BC53B5672BE3}"/>
              </a:ext>
            </a:extLst>
          </p:cNvPr>
          <p:cNvSpPr txBox="1"/>
          <p:nvPr/>
        </p:nvSpPr>
        <p:spPr>
          <a:xfrm>
            <a:off x="227617" y="5600799"/>
            <a:ext cx="12155424" cy="923330"/>
          </a:xfrm>
          <a:prstGeom prst="rect">
            <a:avLst/>
          </a:prstGeom>
          <a:noFill/>
        </p:spPr>
        <p:txBody>
          <a:bodyPr wrap="square">
            <a:spAutoFit/>
          </a:bodyPr>
          <a:lstStyle/>
          <a:p>
            <a:r>
              <a:rPr lang="en-GB" dirty="0">
                <a:latin typeface="Times New Roman" panose="02020603050405020304" pitchFamily="18" charset="0"/>
                <a:cs typeface="Times New Roman" panose="02020603050405020304" pitchFamily="18" charset="0"/>
              </a:rPr>
              <a:t>This chart highlights regional sales performance by representative, showing that </a:t>
            </a:r>
            <a:r>
              <a:rPr lang="en-GB" b="1" dirty="0">
                <a:latin typeface="Times New Roman" panose="02020603050405020304" pitchFamily="18" charset="0"/>
                <a:cs typeface="Times New Roman" panose="02020603050405020304" pitchFamily="18" charset="0"/>
              </a:rPr>
              <a:t>Charlie leads in the North region</a:t>
            </a:r>
            <a:r>
              <a:rPr lang="en-GB" dirty="0">
                <a:latin typeface="Times New Roman" panose="02020603050405020304" pitchFamily="18" charset="0"/>
                <a:cs typeface="Times New Roman" panose="02020603050405020304" pitchFamily="18" charset="0"/>
              </a:rPr>
              <a:t>, while </a:t>
            </a:r>
            <a:r>
              <a:rPr lang="en-GB" b="1" dirty="0">
                <a:latin typeface="Times New Roman" panose="02020603050405020304" pitchFamily="18" charset="0"/>
                <a:cs typeface="Times New Roman" panose="02020603050405020304" pitchFamily="18" charset="0"/>
              </a:rPr>
              <a:t>David excels in the South</a:t>
            </a:r>
            <a:r>
              <a:rPr lang="en-GB" dirty="0">
                <a:latin typeface="Times New Roman" panose="02020603050405020304" pitchFamily="18" charset="0"/>
                <a:cs typeface="Times New Roman" panose="02020603050405020304" pitchFamily="18" charset="0"/>
              </a:rPr>
              <a:t>. Other regions display more evenly distributed performance among reps. The insight suggests focusing on replicating high-performing strategies from top reps in specific regions to drive balanced growth across all areas.</a:t>
            </a:r>
          </a:p>
        </p:txBody>
      </p:sp>
      <p:pic>
        <p:nvPicPr>
          <p:cNvPr id="3" name="Picture 2">
            <a:extLst>
              <a:ext uri="{FF2B5EF4-FFF2-40B4-BE49-F238E27FC236}">
                <a16:creationId xmlns:a16="http://schemas.microsoft.com/office/drawing/2014/main" id="{F852E976-9F02-4395-FF44-C06BBB789559}"/>
              </a:ext>
            </a:extLst>
          </p:cNvPr>
          <p:cNvPicPr>
            <a:picLocks noChangeAspect="1"/>
          </p:cNvPicPr>
          <p:nvPr/>
        </p:nvPicPr>
        <p:blipFill>
          <a:blip r:embed="rId2"/>
          <a:stretch>
            <a:fillRect/>
          </a:stretch>
        </p:blipFill>
        <p:spPr>
          <a:xfrm>
            <a:off x="227617" y="1072896"/>
            <a:ext cx="11700190" cy="4527903"/>
          </a:xfrm>
          <a:prstGeom prst="rect">
            <a:avLst/>
          </a:prstGeom>
        </p:spPr>
      </p:pic>
      <p:pic>
        <p:nvPicPr>
          <p:cNvPr id="4" name="Picture 4" descr="John Lewis Logo PNG Transparent &amp; SVG Vector - Freebie Supply">
            <a:extLst>
              <a:ext uri="{FF2B5EF4-FFF2-40B4-BE49-F238E27FC236}">
                <a16:creationId xmlns:a16="http://schemas.microsoft.com/office/drawing/2014/main" id="{0FDF5B26-1D0F-6BD3-7789-2FEF6ABDA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66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1E04D-5D64-264E-EA3D-5E88D3FFEC9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2105B85-07DD-E137-C1AD-F65B0AA8F867}"/>
              </a:ext>
            </a:extLst>
          </p:cNvPr>
          <p:cNvSpPr txBox="1"/>
          <p:nvPr/>
        </p:nvSpPr>
        <p:spPr>
          <a:xfrm>
            <a:off x="227617" y="5600799"/>
            <a:ext cx="11839379" cy="1200329"/>
          </a:xfrm>
          <a:prstGeom prst="rect">
            <a:avLst/>
          </a:prstGeom>
          <a:noFill/>
        </p:spPr>
        <p:txBody>
          <a:bodyPr wrap="square">
            <a:spAutoFit/>
          </a:bodyPr>
          <a:lstStyle/>
          <a:p>
            <a:r>
              <a:rPr lang="en-GB" dirty="0">
                <a:latin typeface="Times New Roman" panose="02020603050405020304" pitchFamily="18" charset="0"/>
                <a:cs typeface="Times New Roman" panose="02020603050405020304" pitchFamily="18" charset="0"/>
              </a:rPr>
              <a:t>This chart shows that </a:t>
            </a:r>
            <a:r>
              <a:rPr lang="en-GB" b="1" dirty="0">
                <a:latin typeface="Times New Roman" panose="02020603050405020304" pitchFamily="18" charset="0"/>
                <a:cs typeface="Times New Roman" panose="02020603050405020304" pitchFamily="18" charset="0"/>
              </a:rPr>
              <a:t>Credit Card payments lead with the highest sales (£1.76M) and profit (£168.82K)</a:t>
            </a:r>
            <a:r>
              <a:rPr lang="en-GB" dirty="0">
                <a:latin typeface="Times New Roman" panose="02020603050405020304" pitchFamily="18" charset="0"/>
                <a:cs typeface="Times New Roman" panose="02020603050405020304" pitchFamily="18" charset="0"/>
              </a:rPr>
              <a:t>, followed closely by </a:t>
            </a:r>
            <a:r>
              <a:rPr lang="en-GB" b="1" dirty="0">
                <a:latin typeface="Times New Roman" panose="02020603050405020304" pitchFamily="18" charset="0"/>
                <a:cs typeface="Times New Roman" panose="02020603050405020304" pitchFamily="18" charset="0"/>
              </a:rPr>
              <a:t>Bank Transfers</a:t>
            </a:r>
            <a:r>
              <a:rPr lang="en-GB" dirty="0">
                <a:latin typeface="Times New Roman" panose="02020603050405020304" pitchFamily="18" charset="0"/>
                <a:cs typeface="Times New Roman" panose="02020603050405020304" pitchFamily="18" charset="0"/>
              </a:rPr>
              <a:t> with sales of </a:t>
            </a:r>
            <a:r>
              <a:rPr lang="en-GB" b="1" dirty="0">
                <a:latin typeface="Times New Roman" panose="02020603050405020304" pitchFamily="18" charset="0"/>
                <a:cs typeface="Times New Roman" panose="02020603050405020304" pitchFamily="18" charset="0"/>
              </a:rPr>
              <a:t>£1.72M</a:t>
            </a:r>
            <a:r>
              <a:rPr lang="en-GB" dirty="0">
                <a:latin typeface="Times New Roman" panose="02020603050405020304" pitchFamily="18" charset="0"/>
                <a:cs typeface="Times New Roman" panose="02020603050405020304" pitchFamily="18" charset="0"/>
              </a:rPr>
              <a:t> and profit of </a:t>
            </a:r>
            <a:r>
              <a:rPr lang="en-GB" b="1" dirty="0">
                <a:latin typeface="Times New Roman" panose="02020603050405020304" pitchFamily="18" charset="0"/>
                <a:cs typeface="Times New Roman" panose="02020603050405020304" pitchFamily="18" charset="0"/>
              </a:rPr>
              <a:t>£173.92K</a:t>
            </a: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Cash transactions recorded the lowest sales (£1.54M) and profit (£164.36K)</a:t>
            </a:r>
            <a:r>
              <a:rPr lang="en-GB" dirty="0">
                <a:latin typeface="Times New Roman" panose="02020603050405020304" pitchFamily="18" charset="0"/>
                <a:cs typeface="Times New Roman" panose="02020603050405020304" pitchFamily="18" charset="0"/>
              </a:rPr>
              <a:t>. This indicates that encouraging digital payment methods like credit cards and bank transfers can significantly boost both revenue and profitability.</a:t>
            </a:r>
          </a:p>
        </p:txBody>
      </p:sp>
      <p:pic>
        <p:nvPicPr>
          <p:cNvPr id="4" name="Picture 3">
            <a:extLst>
              <a:ext uri="{FF2B5EF4-FFF2-40B4-BE49-F238E27FC236}">
                <a16:creationId xmlns:a16="http://schemas.microsoft.com/office/drawing/2014/main" id="{BBC1A2E0-8704-5DF6-247E-FF57169BCEB5}"/>
              </a:ext>
            </a:extLst>
          </p:cNvPr>
          <p:cNvPicPr>
            <a:picLocks noChangeAspect="1"/>
          </p:cNvPicPr>
          <p:nvPr/>
        </p:nvPicPr>
        <p:blipFill>
          <a:blip r:embed="rId2"/>
          <a:stretch>
            <a:fillRect/>
          </a:stretch>
        </p:blipFill>
        <p:spPr>
          <a:xfrm>
            <a:off x="125003" y="675230"/>
            <a:ext cx="11941993" cy="4925569"/>
          </a:xfrm>
          <a:prstGeom prst="rect">
            <a:avLst/>
          </a:prstGeom>
        </p:spPr>
      </p:pic>
      <p:pic>
        <p:nvPicPr>
          <p:cNvPr id="5" name="Picture 4" descr="John Lewis Logo PNG Transparent &amp; SVG Vector - Freebie Supply">
            <a:extLst>
              <a:ext uri="{FF2B5EF4-FFF2-40B4-BE49-F238E27FC236}">
                <a16:creationId xmlns:a16="http://schemas.microsoft.com/office/drawing/2014/main" id="{D3E42112-5238-C211-1324-DE751C915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521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3E62-CB4F-F8C1-2388-62FDB319E14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FF3E84B-114F-59B2-21CA-C7F94228658E}"/>
              </a:ext>
            </a:extLst>
          </p:cNvPr>
          <p:cNvSpPr txBox="1"/>
          <p:nvPr/>
        </p:nvSpPr>
        <p:spPr>
          <a:xfrm>
            <a:off x="7306425" y="2036064"/>
            <a:ext cx="4885575" cy="4801314"/>
          </a:xfrm>
          <a:prstGeom prst="rect">
            <a:avLst/>
          </a:prstGeom>
          <a:noFill/>
        </p:spPr>
        <p:txBody>
          <a:bodyPr wrap="square">
            <a:spAutoFit/>
          </a:bodyPr>
          <a:lstStyle/>
          <a:p>
            <a:r>
              <a:rPr lang="en-GB" dirty="0"/>
              <a:t>The chart illustrates the median profit percentage earned by each product category in 2024. </a:t>
            </a:r>
            <a:r>
              <a:rPr lang="en-GB" b="1" dirty="0"/>
              <a:t>Furniture achieved the highest profit margin at 10.78%</a:t>
            </a:r>
            <a:r>
              <a:rPr lang="en-GB" dirty="0"/>
              <a:t>, followed closely by </a:t>
            </a:r>
            <a:r>
              <a:rPr lang="en-GB" b="1" dirty="0"/>
              <a:t>Clothing at 10.36%</a:t>
            </a:r>
            <a:r>
              <a:rPr lang="en-GB" dirty="0"/>
              <a:t>, indicating strong performance and effective pricing strategies in these categories. Meanwhile, </a:t>
            </a:r>
            <a:r>
              <a:rPr lang="en-GB" b="1" dirty="0"/>
              <a:t>Electronics (9.33%) and Food (8.89%) recorded relatively lower profit margins</a:t>
            </a:r>
            <a:r>
              <a:rPr lang="en-GB" dirty="0"/>
              <a:t>, suggesting higher competition or tighter pricing pressures in these segments. This analysis highlights the need to focus on maintaining profitability in high-performing categories like Furniture and Clothing, while implementing cost optimisation measures to improve margins in Electronics and Food.</a:t>
            </a:r>
            <a:endParaRPr lang="en-GB"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8C3228D-AF0F-4D0A-8F13-A3681910869B}"/>
              </a:ext>
            </a:extLst>
          </p:cNvPr>
          <p:cNvPicPr>
            <a:picLocks noChangeAspect="1"/>
          </p:cNvPicPr>
          <p:nvPr/>
        </p:nvPicPr>
        <p:blipFill>
          <a:blip r:embed="rId2"/>
          <a:stretch>
            <a:fillRect/>
          </a:stretch>
        </p:blipFill>
        <p:spPr>
          <a:xfrm>
            <a:off x="0" y="2036064"/>
            <a:ext cx="7306425" cy="4821936"/>
          </a:xfrm>
          <a:prstGeom prst="rect">
            <a:avLst/>
          </a:prstGeom>
        </p:spPr>
      </p:pic>
      <p:sp>
        <p:nvSpPr>
          <p:cNvPr id="3" name="TextBox 2">
            <a:extLst>
              <a:ext uri="{FF2B5EF4-FFF2-40B4-BE49-F238E27FC236}">
                <a16:creationId xmlns:a16="http://schemas.microsoft.com/office/drawing/2014/main" id="{DC5E84DA-2041-3695-143F-2F4713332168}"/>
              </a:ext>
            </a:extLst>
          </p:cNvPr>
          <p:cNvSpPr txBox="1"/>
          <p:nvPr/>
        </p:nvSpPr>
        <p:spPr>
          <a:xfrm>
            <a:off x="2731008" y="928155"/>
            <a:ext cx="6096000" cy="830997"/>
          </a:xfrm>
          <a:prstGeom prst="rect">
            <a:avLst/>
          </a:prstGeom>
          <a:noFill/>
        </p:spPr>
        <p:txBody>
          <a:bodyPr wrap="square">
            <a:spAutoFit/>
          </a:bodyPr>
          <a:lstStyle/>
          <a:p>
            <a:r>
              <a:rPr lang="en-GB" sz="2400" dirty="0"/>
              <a:t>Median profit percentage by product category for 2023.</a:t>
            </a:r>
            <a:endParaRPr lang="en-US" sz="2400" dirty="0"/>
          </a:p>
        </p:txBody>
      </p:sp>
      <p:pic>
        <p:nvPicPr>
          <p:cNvPr id="5" name="Picture 4" descr="John Lewis Logo PNG Transparent &amp; SVG Vector - Freebie Supply">
            <a:extLst>
              <a:ext uri="{FF2B5EF4-FFF2-40B4-BE49-F238E27FC236}">
                <a16:creationId xmlns:a16="http://schemas.microsoft.com/office/drawing/2014/main" id="{932B778E-7FD4-82FB-7845-76D5D89BD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363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74C0-3E9F-61EB-33D4-52EDCA022B0E}"/>
            </a:ext>
          </a:extLst>
        </p:cNvPr>
        <p:cNvGrpSpPr/>
        <p:nvPr/>
      </p:nvGrpSpPr>
      <p:grpSpPr>
        <a:xfrm>
          <a:off x="0" y="0"/>
          <a:ext cx="0" cy="0"/>
          <a:chOff x="0" y="0"/>
          <a:chExt cx="0" cy="0"/>
        </a:xfrm>
      </p:grpSpPr>
      <p:pic>
        <p:nvPicPr>
          <p:cNvPr id="5" name="Picture 4" descr="John Lewis Logo PNG Transparent &amp; SVG Vector - Freebie Supply">
            <a:extLst>
              <a:ext uri="{FF2B5EF4-FFF2-40B4-BE49-F238E27FC236}">
                <a16:creationId xmlns:a16="http://schemas.microsoft.com/office/drawing/2014/main" id="{016F4958-D475-64AA-81AE-EEB8C89B6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41B51BC-C05D-C1D0-2405-B5E6086C11E6}"/>
              </a:ext>
            </a:extLst>
          </p:cNvPr>
          <p:cNvSpPr txBox="1"/>
          <p:nvPr/>
        </p:nvSpPr>
        <p:spPr>
          <a:xfrm>
            <a:off x="854242" y="1184480"/>
            <a:ext cx="10864516" cy="5416868"/>
          </a:xfrm>
          <a:prstGeom prst="rect">
            <a:avLst/>
          </a:prstGeom>
          <a:noFill/>
        </p:spPr>
        <p:txBody>
          <a:bodyPr wrap="square">
            <a:spAutoFit/>
          </a:bodyPr>
          <a:lstStyle/>
          <a:p>
            <a:r>
              <a:rPr lang="en-GB" sz="4000" dirty="0">
                <a:latin typeface="Times New Roman" panose="02020603050405020304" pitchFamily="18" charset="0"/>
                <a:cs typeface="Times New Roman" panose="02020603050405020304" pitchFamily="18" charset="0"/>
              </a:rPr>
              <a:t>Recommendations</a:t>
            </a: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Seasonal Campaign Planning:</a:t>
            </a:r>
            <a:r>
              <a:rPr lang="en-GB" dirty="0">
                <a:latin typeface="Times New Roman" panose="02020603050405020304" pitchFamily="18" charset="0"/>
                <a:cs typeface="Times New Roman" panose="02020603050405020304" pitchFamily="18" charset="0"/>
              </a:rPr>
              <a:t> Launch targeted promotions during peak shopping months to maximise revenue.</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Regional Growth Strategies:</a:t>
            </a:r>
            <a:r>
              <a:rPr lang="en-GB" dirty="0">
                <a:latin typeface="Times New Roman" panose="02020603050405020304" pitchFamily="18" charset="0"/>
                <a:cs typeface="Times New Roman" panose="02020603050405020304" pitchFamily="18" charset="0"/>
              </a:rPr>
              <a:t> Strengthen sales in underperforming regions (South) through localised marketing and offers.</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Product Mix Optimisation:</a:t>
            </a:r>
            <a:r>
              <a:rPr lang="en-GB" dirty="0">
                <a:latin typeface="Times New Roman" panose="02020603050405020304" pitchFamily="18" charset="0"/>
                <a:cs typeface="Times New Roman" panose="02020603050405020304" pitchFamily="18" charset="0"/>
              </a:rPr>
              <a:t> Focus on upselling high-margin categories like Furniture and Clothing to boost profitability.</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Omnichannel Enhancement:</a:t>
            </a:r>
            <a:r>
              <a:rPr lang="en-GB" dirty="0">
                <a:latin typeface="Times New Roman" panose="02020603050405020304" pitchFamily="18" charset="0"/>
                <a:cs typeface="Times New Roman" panose="02020603050405020304" pitchFamily="18" charset="0"/>
              </a:rPr>
              <a:t> Improve the online shopping experience for new customers while maintaining in-store loyalty for returning ones.</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Predictive Analytics:</a:t>
            </a:r>
            <a:r>
              <a:rPr lang="en-GB" dirty="0">
                <a:latin typeface="Times New Roman" panose="02020603050405020304" pitchFamily="18" charset="0"/>
                <a:cs typeface="Times New Roman" panose="02020603050405020304" pitchFamily="18" charset="0"/>
              </a:rPr>
              <a:t> Implement forecasting models to anticipate demand and optimise inventory planning.</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Customer Personalisation:</a:t>
            </a:r>
            <a:r>
              <a:rPr lang="en-GB" dirty="0">
                <a:latin typeface="Times New Roman" panose="02020603050405020304" pitchFamily="18" charset="0"/>
                <a:cs typeface="Times New Roman" panose="02020603050405020304" pitchFamily="18" charset="0"/>
              </a:rPr>
              <a:t> Leverage segmentation to offer personalised recommendations, increasing retention and lifetime value.</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9424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55D77-29C1-1353-7E1E-0B302809FF0E}"/>
            </a:ext>
          </a:extLst>
        </p:cNvPr>
        <p:cNvGrpSpPr/>
        <p:nvPr/>
      </p:nvGrpSpPr>
      <p:grpSpPr>
        <a:xfrm>
          <a:off x="0" y="0"/>
          <a:ext cx="0" cy="0"/>
          <a:chOff x="0" y="0"/>
          <a:chExt cx="0" cy="0"/>
        </a:xfrm>
      </p:grpSpPr>
      <p:pic>
        <p:nvPicPr>
          <p:cNvPr id="5" name="Picture 4" descr="John Lewis Logo PNG Transparent &amp; SVG Vector - Freebie Supply">
            <a:extLst>
              <a:ext uri="{FF2B5EF4-FFF2-40B4-BE49-F238E27FC236}">
                <a16:creationId xmlns:a16="http://schemas.microsoft.com/office/drawing/2014/main" id="{E79DD63E-989F-AEA1-4E5F-A28348A63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42" y="-472492"/>
            <a:ext cx="1778297" cy="177829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8626C3-338E-4B57-1270-EEE4738D1956}"/>
              </a:ext>
            </a:extLst>
          </p:cNvPr>
          <p:cNvSpPr txBox="1"/>
          <p:nvPr/>
        </p:nvSpPr>
        <p:spPr>
          <a:xfrm>
            <a:off x="854242" y="1184480"/>
            <a:ext cx="10864516" cy="5293757"/>
          </a:xfrm>
          <a:prstGeom prst="rect">
            <a:avLst/>
          </a:prstGeom>
          <a:noFill/>
        </p:spPr>
        <p:txBody>
          <a:bodyPr wrap="square">
            <a:spAutoFit/>
          </a:bodyPr>
          <a:lstStyle/>
          <a:p>
            <a:r>
              <a:rPr lang="en-GB" sz="4000" dirty="0">
                <a:latin typeface="Times New Roman" panose="02020603050405020304" pitchFamily="18" charset="0"/>
                <a:cs typeface="Times New Roman" panose="02020603050405020304" pitchFamily="18" charset="0"/>
              </a:rPr>
              <a:t>Conclusion</a:t>
            </a:r>
          </a:p>
          <a:p>
            <a:endParaRPr lang="en-GB" sz="1600"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dirty="0">
                <a:latin typeface="Times New Roman" panose="02020603050405020304" pitchFamily="18" charset="0"/>
                <a:cs typeface="Times New Roman" panose="02020603050405020304" pitchFamily="18" charset="0"/>
              </a:rPr>
              <a:t>This analysis of </a:t>
            </a:r>
            <a:r>
              <a:rPr lang="en-GB" b="1" dirty="0">
                <a:latin typeface="Times New Roman" panose="02020603050405020304" pitchFamily="18" charset="0"/>
                <a:cs typeface="Times New Roman" panose="02020603050405020304" pitchFamily="18" charset="0"/>
              </a:rPr>
              <a:t>John Lewis UK</a:t>
            </a:r>
            <a:r>
              <a:rPr lang="en-GB" dirty="0">
                <a:latin typeface="Times New Roman" panose="02020603050405020304" pitchFamily="18" charset="0"/>
                <a:cs typeface="Times New Roman" panose="02020603050405020304" pitchFamily="18" charset="0"/>
              </a:rPr>
              <a:t> provided valuable insights into </a:t>
            </a:r>
            <a:r>
              <a:rPr lang="en-GB" b="1" dirty="0">
                <a:latin typeface="Times New Roman" panose="02020603050405020304" pitchFamily="18" charset="0"/>
                <a:cs typeface="Times New Roman" panose="02020603050405020304" pitchFamily="18" charset="0"/>
              </a:rPr>
              <a:t>sales, profit trends, customer </a:t>
            </a:r>
            <a:r>
              <a:rPr lang="en-GB" b="1" dirty="0" err="1">
                <a:latin typeface="Times New Roman" panose="02020603050405020304" pitchFamily="18" charset="0"/>
                <a:cs typeface="Times New Roman" panose="02020603050405020304" pitchFamily="18" charset="0"/>
              </a:rPr>
              <a:t>behavior</a:t>
            </a:r>
            <a:r>
              <a:rPr lang="en-GB" b="1" dirty="0">
                <a:latin typeface="Times New Roman" panose="02020603050405020304" pitchFamily="18" charset="0"/>
                <a:cs typeface="Times New Roman" panose="02020603050405020304" pitchFamily="18" charset="0"/>
              </a:rPr>
              <a:t>, and regional performance</a:t>
            </a:r>
            <a:r>
              <a:rPr lang="en-GB" dirty="0">
                <a:latin typeface="Times New Roman" panose="02020603050405020304" pitchFamily="18" charset="0"/>
                <a:cs typeface="Times New Roman" panose="02020603050405020304" pitchFamily="18" charset="0"/>
              </a:rPr>
              <a:t>.</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dirty="0">
                <a:latin typeface="Times New Roman" panose="02020603050405020304" pitchFamily="18" charset="0"/>
                <a:cs typeface="Times New Roman" panose="02020603050405020304" pitchFamily="18" charset="0"/>
              </a:rPr>
              <a:t>Sales peaked during </a:t>
            </a:r>
            <a:r>
              <a:rPr lang="en-GB" b="1" dirty="0">
                <a:latin typeface="Times New Roman" panose="02020603050405020304" pitchFamily="18" charset="0"/>
                <a:cs typeface="Times New Roman" panose="02020603050405020304" pitchFamily="18" charset="0"/>
              </a:rPr>
              <a:t>festive months (Jan, Aug, Nov)</a:t>
            </a:r>
            <a:r>
              <a:rPr lang="en-GB" dirty="0">
                <a:latin typeface="Times New Roman" panose="02020603050405020304" pitchFamily="18" charset="0"/>
                <a:cs typeface="Times New Roman" panose="02020603050405020304" pitchFamily="18" charset="0"/>
              </a:rPr>
              <a:t>, driven by seasonal demand.</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Clothing led in sales</a:t>
            </a:r>
            <a:r>
              <a:rPr lang="en-GB" dirty="0">
                <a:latin typeface="Times New Roman" panose="02020603050405020304" pitchFamily="18" charset="0"/>
                <a:cs typeface="Times New Roman" panose="02020603050405020304" pitchFamily="18" charset="0"/>
              </a:rPr>
              <a:t>, while </a:t>
            </a:r>
            <a:r>
              <a:rPr lang="en-GB" b="1" dirty="0">
                <a:latin typeface="Times New Roman" panose="02020603050405020304" pitchFamily="18" charset="0"/>
                <a:cs typeface="Times New Roman" panose="02020603050405020304" pitchFamily="18" charset="0"/>
              </a:rPr>
              <a:t>Furniture yielded the highest profit margin (10.78%)</a:t>
            </a:r>
            <a:r>
              <a:rPr lang="en-GB" dirty="0">
                <a:latin typeface="Times New Roman" panose="02020603050405020304" pitchFamily="18" charset="0"/>
                <a:cs typeface="Times New Roman" panose="02020603050405020304" pitchFamily="18" charset="0"/>
              </a:rPr>
              <a:t>, highlighting profitable product focus areas.</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North region outperformed others</a:t>
            </a:r>
            <a:r>
              <a:rPr lang="en-GB" dirty="0">
                <a:latin typeface="Times New Roman" panose="02020603050405020304" pitchFamily="18" charset="0"/>
                <a:cs typeface="Times New Roman" panose="02020603050405020304" pitchFamily="18" charset="0"/>
              </a:rPr>
              <a:t>, while the </a:t>
            </a:r>
            <a:r>
              <a:rPr lang="en-GB" b="1" dirty="0">
                <a:latin typeface="Times New Roman" panose="02020603050405020304" pitchFamily="18" charset="0"/>
                <a:cs typeface="Times New Roman" panose="02020603050405020304" pitchFamily="18" charset="0"/>
              </a:rPr>
              <a:t>South region requires targeted strategies</a:t>
            </a:r>
            <a:r>
              <a:rPr lang="en-GB" dirty="0">
                <a:latin typeface="Times New Roman" panose="02020603050405020304" pitchFamily="18" charset="0"/>
                <a:cs typeface="Times New Roman" panose="02020603050405020304" pitchFamily="18" charset="0"/>
              </a:rPr>
              <a:t>.</a:t>
            </a:r>
          </a:p>
          <a:p>
            <a:pPr marL="285750" indent="-285750">
              <a:buFont typeface="Wingdings" pitchFamily="2" charset="2"/>
              <a:buChar char="Ø"/>
            </a:pPr>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dirty="0">
                <a:latin typeface="Times New Roman" panose="02020603050405020304" pitchFamily="18" charset="0"/>
                <a:cs typeface="Times New Roman" panose="02020603050405020304" pitchFamily="18" charset="0"/>
              </a:rPr>
              <a:t>The shift towards </a:t>
            </a:r>
            <a:r>
              <a:rPr lang="en-GB" b="1" dirty="0">
                <a:latin typeface="Times New Roman" panose="02020603050405020304" pitchFamily="18" charset="0"/>
                <a:cs typeface="Times New Roman" panose="02020603050405020304" pitchFamily="18" charset="0"/>
              </a:rPr>
              <a:t>online shopping for new customers</a:t>
            </a:r>
            <a:r>
              <a:rPr lang="en-GB" dirty="0">
                <a:latin typeface="Times New Roman" panose="02020603050405020304" pitchFamily="18" charset="0"/>
                <a:cs typeface="Times New Roman" panose="02020603050405020304" pitchFamily="18" charset="0"/>
              </a:rPr>
              <a:t> emphasizes the growing importance of digital engagement.</a:t>
            </a:r>
          </a:p>
          <a:p>
            <a:endParaRPr lang="en-GB" dirty="0">
              <a:latin typeface="Times New Roman" panose="02020603050405020304" pitchFamily="18" charset="0"/>
              <a:cs typeface="Times New Roman" panose="02020603050405020304" pitchFamily="18" charset="0"/>
            </a:endParaRPr>
          </a:p>
          <a:p>
            <a:pPr marL="285750" indent="-285750">
              <a:buFont typeface="Wingdings" pitchFamily="2" charset="2"/>
              <a:buChar char="Ø"/>
            </a:pPr>
            <a:r>
              <a:rPr lang="en-GB" b="1" dirty="0">
                <a:latin typeface="Times New Roman" panose="02020603050405020304" pitchFamily="18" charset="0"/>
                <a:cs typeface="Times New Roman" panose="02020603050405020304" pitchFamily="18" charset="0"/>
              </a:rPr>
              <a:t>Credit card payments dominated</a:t>
            </a:r>
            <a:r>
              <a:rPr lang="en-GB" dirty="0">
                <a:latin typeface="Times New Roman" panose="02020603050405020304" pitchFamily="18" charset="0"/>
                <a:cs typeface="Times New Roman" panose="02020603050405020304" pitchFamily="18" charset="0"/>
              </a:rPr>
              <a:t>, reflecting evolving consumer payment preferences.</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148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56403A-E5DD-356D-68E6-CF645EC429A4}"/>
              </a:ext>
            </a:extLst>
          </p:cNvPr>
          <p:cNvSpPr>
            <a:spLocks noGrp="1"/>
          </p:cNvSpPr>
          <p:nvPr>
            <p:ph idx="1"/>
          </p:nvPr>
        </p:nvSpPr>
        <p:spPr>
          <a:xfrm>
            <a:off x="685800" y="1621474"/>
            <a:ext cx="10820400" cy="4024125"/>
          </a:xfrm>
        </p:spPr>
        <p:txBody>
          <a:bodyPr anchor="ctr">
            <a:normAutofit/>
          </a:bodyPr>
          <a:lstStyle/>
          <a:p>
            <a:pPr marL="0" indent="0" algn="ctr">
              <a:buNone/>
            </a:pPr>
            <a:r>
              <a:rPr lang="en-US" sz="8800" dirty="0"/>
              <a:t>THANK YOU</a:t>
            </a:r>
            <a:br>
              <a:rPr lang="en-US" sz="8800" dirty="0"/>
            </a:br>
            <a:r>
              <a:rPr lang="en-GB" sz="3200" dirty="0"/>
              <a:t> </a:t>
            </a:r>
            <a:r>
              <a:rPr lang="en-GB" sz="3200" i="1" dirty="0"/>
              <a:t>For collaborations or feedback, feel free to connect!</a:t>
            </a:r>
            <a:endParaRPr lang="en-GB" sz="3200" dirty="0"/>
          </a:p>
        </p:txBody>
      </p:sp>
    </p:spTree>
    <p:extLst>
      <p:ext uri="{BB962C8B-B14F-4D97-AF65-F5344CB8AC3E}">
        <p14:creationId xmlns:p14="http://schemas.microsoft.com/office/powerpoint/2010/main" val="61561568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Vapor Trail</Template>
  <TotalTime>26</TotalTime>
  <Words>1066</Words>
  <Application>Microsoft Macintosh PowerPoint</Application>
  <PresentationFormat>Widescreen</PresentationFormat>
  <Paragraphs>48</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Century Gothic</vt:lpstr>
      <vt:lpstr>Times New Roman</vt:lpstr>
      <vt:lpstr>Wingdings</vt:lpstr>
      <vt:lpstr>Vapor Trail</vt:lpstr>
      <vt:lpstr>PowerPoint Presentation</vt:lpstr>
      <vt:lpstr>KPI  Sales, Quantity, And Profit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Piyush Gupta (Student)</dc:creator>
  <cp:lastModifiedBy>Piyush Gupta (Student)</cp:lastModifiedBy>
  <cp:revision>13</cp:revision>
  <cp:lastPrinted>2025-07-30T01:24:35Z</cp:lastPrinted>
  <dcterms:created xsi:type="dcterms:W3CDTF">2025-07-30T00:37:48Z</dcterms:created>
  <dcterms:modified xsi:type="dcterms:W3CDTF">2025-07-30T17:11:48Z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a618d1e0-f5d7-4da7-8ddd-3b83021a2c85_Enabled">
    <vt:lpwstr>true</vt:lpwstr>
  </property>
  <property fmtid="{D5CDD505-2E9C-101B-9397-08002B2CF9AE}" pid="4" name="MSIP_Label_a618d1e0-f5d7-4da7-8ddd-3b83021a2c85_SetDate">
    <vt:lpwstr>2025-07-30T01:32:24Z</vt:lpwstr>
  </property>
  <property fmtid="{D5CDD505-2E9C-101B-9397-08002B2CF9AE}" pid="5" name="MSIP_Label_a618d1e0-f5d7-4da7-8ddd-3b83021a2c85_Method">
    <vt:lpwstr>Standard</vt:lpwstr>
  </property>
  <property fmtid="{D5CDD505-2E9C-101B-9397-08002B2CF9AE}" pid="6" name="MSIP_Label_a618d1e0-f5d7-4da7-8ddd-3b83021a2c85_Name">
    <vt:lpwstr>Private</vt:lpwstr>
  </property>
  <property fmtid="{D5CDD505-2E9C-101B-9397-08002B2CF9AE}" pid="7" name="MSIP_Label_a618d1e0-f5d7-4da7-8ddd-3b83021a2c85_SiteId">
    <vt:lpwstr>ae323139-093a-4d2a-81a6-5d334bcd9019</vt:lpwstr>
  </property>
  <property fmtid="{D5CDD505-2E9C-101B-9397-08002B2CF9AE}" pid="8" name="MSIP_Label_a618d1e0-f5d7-4da7-8ddd-3b83021a2c85_ActionId">
    <vt:lpwstr>572d08bc-fa84-4574-a0ed-2e6635ac0686</vt:lpwstr>
  </property>
  <property fmtid="{D5CDD505-2E9C-101B-9397-08002B2CF9AE}" pid="9" name="MSIP_Label_a618d1e0-f5d7-4da7-8ddd-3b83021a2c85_ContentBits">
    <vt:lpwstr>0</vt:lpwstr>
  </property>
  <property fmtid="{D5CDD505-2E9C-101B-9397-08002B2CF9AE}" pid="10" name="MSIP_Label_a618d1e0-f5d7-4da7-8ddd-3b83021a2c85_Tag">
    <vt:lpwstr>50, 3, 0, 1</vt:lpwstr>
  </property>
</Properties>
</file>